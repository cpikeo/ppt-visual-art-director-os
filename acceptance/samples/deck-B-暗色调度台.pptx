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单卡小时电费（元）</c:v>
                </c:pt>
              </c:strCache>
            </c:strRef>
          </c:tx>
          <c:spPr>
            <a:solidFill>
              <a:srgbClr val="7ACFF8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峰段</c:v>
                </c:pt>
                <c:pt idx="1">
                  <c:v>谷段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0.44</c:v>
                </c:pt>
                <c:pt idx="1">
                  <c:v>0.11</c:v>
                </c:pt>
              </c:numCache>
            </c:numRef>
          </c:val>
        </c:ser>
        <c:dLbls>
          <c:numFmt formatCode="General&quot;元&quot;" sourceLinked="0"/>
          <c:txPr>
            <a:bodyPr/>
            <a:lstStyle/>
            <a:p>
              <a:pPr>
                <a:defRPr sz="1125">
                  <a:solidFill>
                    <a:srgbClr val="E8EAED"/>
                  </a:solidFill>
                  <a:latin typeface="Georgia"/>
                  <a:ea typeface="思源黑体 SC"/>
                  <a:cs typeface="思源黑体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E8EAED"/>
                </a:solidFill>
                <a:latin typeface="Georgia"/>
                <a:ea typeface="思源黑体 SC"/>
                <a:cs typeface="思源黑体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8B93A0"/>
                </a:solidFill>
                <a:latin typeface="Georgia"/>
                <a:ea typeface="思源黑体 SC"/>
                <a:cs typeface="思源黑体 S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夜间利用率（%）</c:v>
                </c:pt>
              </c:strCache>
            </c:strRef>
          </c:tx>
          <c:spPr>
            <a:ln w="22225">
              <a:solidFill>
                <a:srgbClr val="7ACFF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7 月</c:v>
                </c:pt>
                <c:pt idx="1">
                  <c:v>8 月</c:v>
                </c:pt>
                <c:pt idx="2">
                  <c:v>9 月</c:v>
                </c:pt>
                <c:pt idx="3">
                  <c:v>10 月</c:v>
                </c:pt>
                <c:pt idx="4">
                  <c:v>11 月</c:v>
                </c:pt>
                <c:pt idx="5">
                  <c:v>12 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31.0</c:v>
                </c:pt>
                <c:pt idx="1">
                  <c:v>38.0</c:v>
                </c:pt>
                <c:pt idx="2">
                  <c:v>46.0</c:v>
                </c:pt>
                <c:pt idx="3">
                  <c:v>52.0</c:v>
                </c:pt>
                <c:pt idx="4">
                  <c:v>60.0</c:v>
                </c:pt>
                <c:pt idx="5">
                  <c:v>67.0</c:v>
                </c:pt>
              </c:numCache>
            </c:numRef>
          </c:val>
          <c:smooth val="0"/>
        </c:ser>
        <c:dLbls>
          <c:numFmt formatCode="General&quot;%&quot;" sourceLinked="0"/>
          <c:txPr>
            <a:bodyPr/>
            <a:lstStyle/>
            <a:p>
              <a:pPr>
                <a:defRPr sz="975">
                  <a:solidFill>
                    <a:srgbClr val="E8EAED"/>
                  </a:solidFill>
                  <a:latin typeface="Georgia"/>
                  <a:ea typeface="思源黑体 SC"/>
                  <a:cs typeface="思源黑体 SC"/>
                </a:defRPr>
              </a:pPr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75">
                <a:solidFill>
                  <a:srgbClr val="E8EAED"/>
                </a:solidFill>
                <a:latin typeface="Georgia"/>
                <a:ea typeface="思源黑体 SC"/>
                <a:cs typeface="思源黑体 S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975">
                <a:solidFill>
                  <a:srgbClr val="8B93A0"/>
                </a:solidFill>
                <a:latin typeface="Georgia"/>
                <a:ea typeface="思源黑体 SC"/>
                <a:cs typeface="思源黑体 SC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342900"/>
            <a:ext cx="30480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夜间调度</a:t>
            </a:r>
          </a:p>
        </p:txBody>
      </p:sp>
      <p:sp>
        <p:nvSpPr>
          <p:cNvPr id="3" name="d01_title"/>
          <p:cNvSpPr txBox="1"/>
          <p:nvPr/>
        </p:nvSpPr>
        <p:spPr>
          <a:xfrm>
            <a:off x="1143000" y="2247900"/>
            <a:ext cx="9906000" cy="1600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467"/>
              </a:lnSpc>
            </a:pPr>
            <a:r>
              <a:rPr sz="4050" b="1" i="0">
                <a:solidFill>
                  <a:srgbClr val="E8EAED"/>
                </a:solidFill>
                <a:latin typeface="思源黑体 SC"/>
                <a:ea typeface="思源黑体 SC"/>
                <a:cs typeface="思源黑体 SC"/>
              </a:rPr>
              <a:t>把推理负载挪到夜里，</a:t>
            </a:r>
          </a:p>
          <a:p>
            <a:pPr algn="l">
              <a:lnSpc>
                <a:spcPts val="5467"/>
              </a:lnSpc>
            </a:pPr>
            <a:r>
              <a:rPr sz="4050" b="1" i="0">
                <a:solidFill>
                  <a:srgbClr val="E8EAED"/>
                </a:solidFill>
                <a:latin typeface="思源黑体 SC"/>
                <a:ea typeface="思源黑体 SC"/>
                <a:cs typeface="思源黑体 SC"/>
              </a:rPr>
              <a:t>是今年唯一确定的降本抓手</a:t>
            </a:r>
          </a:p>
        </p:txBody>
      </p:sp>
      <p:sp>
        <p:nvSpPr>
          <p:cNvPr id="4" name="d01_sub"/>
          <p:cNvSpPr txBox="1"/>
          <p:nvPr/>
        </p:nvSpPr>
        <p:spPr>
          <a:xfrm>
            <a:off x="1143000" y="4114800"/>
            <a:ext cx="6858000" cy="381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2027 </a:t>
            </a:r>
            <a:r>
              <a:rPr sz="13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智算中心夜间调度提案</a:t>
            </a:r>
          </a:p>
        </p:txBody>
      </p:sp>
      <p:cxnSp>
        <p:nvCxnSpPr>
          <p:cNvPr id="5" name="d01_rule"/>
          <p:cNvCxnSpPr/>
          <p:nvPr/>
        </p:nvCxnSpPr>
        <p:spPr>
          <a:xfrm>
            <a:off x="1143000" y="3952875"/>
            <a:ext cx="914400" cy="19050"/>
          </a:xfrm>
          <a:prstGeom prst="line">
            <a:avLst/>
          </a:prstGeom>
          <a:ln w="19050">
            <a:solidFill>
              <a:srgbClr val="5AC8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342900"/>
            <a:ext cx="30480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单位成本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1315700" y="342900"/>
            <a:ext cx="4191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2</a:t>
            </a:r>
          </a:p>
        </p:txBody>
      </p:sp>
      <p:sp>
        <p:nvSpPr>
          <p:cNvPr id="4" name="d02_claim"/>
          <p:cNvSpPr txBox="1"/>
          <p:nvPr/>
        </p:nvSpPr>
        <p:spPr>
          <a:xfrm>
            <a:off x="457200" y="914400"/>
            <a:ext cx="7810500" cy="5715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42"/>
              </a:lnSpc>
            </a:pPr>
            <a:r>
              <a:rPr sz="2550" b="1" i="0">
                <a:solidFill>
                  <a:srgbClr val="E8EAED"/>
                </a:solidFill>
                <a:latin typeface="思源黑体 SC"/>
                <a:ea typeface="思源黑体 SC"/>
                <a:cs typeface="思源黑体 SC"/>
              </a:rPr>
              <a:t>谷段电费只有峰段的四分之一</a:t>
            </a:r>
          </a:p>
        </p:txBody>
      </p:sp>
      <p:graphicFrame>
        <p:nvGraphicFramePr>
          <p:cNvPr id="5" name="d02_chart"/>
          <p:cNvGraphicFramePr>
            <a:graphicFrameLocks noGrp="1"/>
          </p:cNvGraphicFramePr>
          <p:nvPr/>
        </p:nvGraphicFramePr>
        <p:xfrm>
          <a:off x="457200" y="2209800"/>
          <a:ext cx="685800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02_left"/>
          <p:cNvSpPr txBox="1"/>
          <p:nvPr/>
        </p:nvSpPr>
        <p:spPr>
          <a:xfrm>
            <a:off x="7848600" y="2209800"/>
            <a:ext cx="3810000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峰段</a:t>
            </a:r>
          </a:p>
          <a:p>
            <a:pPr algn="l">
              <a:lnSpc>
                <a:spcPts val="2925"/>
              </a:lnSpc>
            </a:pPr>
            <a:r>
              <a:rPr sz="195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0.44 </a:t>
            </a:r>
            <a:r>
              <a:rPr sz="19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元</a:t>
            </a:r>
            <a:r>
              <a:rPr sz="195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/</a:t>
            </a:r>
            <a:r>
              <a:rPr sz="19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卡</a:t>
            </a:r>
            <a:r>
              <a:rPr sz="195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·</a:t>
            </a:r>
            <a:r>
              <a:rPr sz="19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时</a:t>
            </a:r>
          </a:p>
        </p:txBody>
      </p:sp>
      <p:sp>
        <p:nvSpPr>
          <p:cNvPr id="7" name="d02_right"/>
          <p:cNvSpPr txBox="1"/>
          <p:nvPr/>
        </p:nvSpPr>
        <p:spPr>
          <a:xfrm>
            <a:off x="7848600" y="3695700"/>
            <a:ext cx="3810000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75"/>
              </a:lnSpc>
            </a:pPr>
            <a:r>
              <a:rPr sz="2250" b="1" i="0">
                <a:solidFill>
                  <a:srgbClr val="5AC8FA"/>
                </a:solidFill>
                <a:latin typeface="思源黑体 SC"/>
                <a:ea typeface="思源黑体 SC"/>
                <a:cs typeface="思源黑体 SC"/>
              </a:rPr>
              <a:t>谷段</a:t>
            </a:r>
          </a:p>
          <a:p>
            <a:pPr algn="l">
              <a:lnSpc>
                <a:spcPts val="3375"/>
              </a:lnSpc>
            </a:pPr>
            <a:r>
              <a:rPr sz="2250" b="1" i="0">
                <a:solidFill>
                  <a:srgbClr val="5AC8FA"/>
                </a:solidFill>
                <a:latin typeface="Georgia"/>
                <a:ea typeface="思源黑体 SC"/>
                <a:cs typeface="思源黑体 SC"/>
              </a:rPr>
              <a:t>0.11 </a:t>
            </a:r>
            <a:r>
              <a:rPr sz="2250" b="1" i="0">
                <a:solidFill>
                  <a:srgbClr val="5AC8FA"/>
                </a:solidFill>
                <a:latin typeface="思源黑体 SC"/>
                <a:ea typeface="思源黑体 SC"/>
                <a:cs typeface="思源黑体 SC"/>
              </a:rPr>
              <a:t>元</a:t>
            </a:r>
            <a:r>
              <a:rPr sz="2250" b="1" i="0">
                <a:solidFill>
                  <a:srgbClr val="5AC8FA"/>
                </a:solidFill>
                <a:latin typeface="Georgia"/>
                <a:ea typeface="思源黑体 SC"/>
                <a:cs typeface="思源黑体 SC"/>
              </a:rPr>
              <a:t>/</a:t>
            </a:r>
            <a:r>
              <a:rPr sz="2250" b="1" i="0">
                <a:solidFill>
                  <a:srgbClr val="5AC8FA"/>
                </a:solidFill>
                <a:latin typeface="思源黑体 SC"/>
                <a:ea typeface="思源黑体 SC"/>
                <a:cs typeface="思源黑体 SC"/>
              </a:rPr>
              <a:t>卡</a:t>
            </a:r>
            <a:r>
              <a:rPr sz="2250" b="1" i="0">
                <a:solidFill>
                  <a:srgbClr val="5AC8FA"/>
                </a:solidFill>
                <a:latin typeface="Georgia"/>
                <a:ea typeface="思源黑体 SC"/>
                <a:cs typeface="思源黑体 SC"/>
              </a:rPr>
              <a:t>·</a:t>
            </a:r>
            <a:r>
              <a:rPr sz="2250" b="1" i="0">
                <a:solidFill>
                  <a:srgbClr val="5AC8FA"/>
                </a:solidFill>
                <a:latin typeface="思源黑体 SC"/>
                <a:ea typeface="思源黑体 SC"/>
                <a:cs typeface="思源黑体 SC"/>
              </a:rPr>
              <a:t>时</a:t>
            </a:r>
          </a:p>
        </p:txBody>
      </p:sp>
      <p:sp>
        <p:nvSpPr>
          <p:cNvPr id="8" name="d02_basis"/>
          <p:cNvSpPr txBox="1"/>
          <p:nvPr/>
        </p:nvSpPr>
        <p:spPr>
          <a:xfrm>
            <a:off x="7848600" y="5029200"/>
            <a:ext cx="3810000" cy="5715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电价</a:t>
            </a:r>
            <a:r>
              <a:rPr sz="11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1.12 </a:t>
            </a:r>
            <a:r>
              <a:rPr sz="11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元</a:t>
            </a:r>
            <a:r>
              <a:rPr sz="11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/</a:t>
            </a:r>
            <a:r>
              <a:rPr sz="11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度</a:t>
            </a:r>
            <a:r>
              <a:rPr sz="11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对</a:t>
            </a:r>
            <a:r>
              <a:rPr sz="11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0.28 </a:t>
            </a:r>
            <a:r>
              <a:rPr sz="11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元</a:t>
            </a:r>
            <a:r>
              <a:rPr sz="11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/</a:t>
            </a:r>
            <a:r>
              <a:rPr sz="11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度</a:t>
            </a:r>
          </a:p>
        </p:txBody>
      </p:sp>
      <p:sp>
        <p:nvSpPr>
          <p:cNvPr id="9" name="src"/>
          <p:cNvSpPr txBox="1"/>
          <p:nvPr/>
        </p:nvSpPr>
        <p:spPr>
          <a:xfrm>
            <a:off x="457200" y="6400800"/>
            <a:ext cx="112776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来源：电费单与调度日志</a:t>
            </a:r>
            <a:r>
              <a:rPr sz="8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· </a:t>
            </a: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口径：</a:t>
            </a:r>
            <a:r>
              <a:rPr sz="8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 2026 </a:t>
            </a: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年</a:t>
            </a:r>
            <a:r>
              <a:rPr sz="8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12 </a:t>
            </a: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月单卡平均功率折算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342900"/>
            <a:ext cx="30480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夜间利用率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1315700" y="342900"/>
            <a:ext cx="4191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3</a:t>
            </a:r>
          </a:p>
        </p:txBody>
      </p:sp>
      <p:sp>
        <p:nvSpPr>
          <p:cNvPr id="4" name="d03_claim"/>
          <p:cNvSpPr txBox="1"/>
          <p:nvPr/>
        </p:nvSpPr>
        <p:spPr>
          <a:xfrm>
            <a:off x="457200" y="914400"/>
            <a:ext cx="7239000" cy="5715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42"/>
              </a:lnSpc>
            </a:pPr>
            <a:r>
              <a:rPr sz="2550" b="1" i="0">
                <a:solidFill>
                  <a:srgbClr val="E8EAED"/>
                </a:solidFill>
                <a:latin typeface="思源黑体 SC"/>
                <a:ea typeface="思源黑体 SC"/>
                <a:cs typeface="思源黑体 SC"/>
              </a:rPr>
              <a:t>过去六个月，夜间利用率从</a:t>
            </a:r>
            <a:r>
              <a:rPr sz="2550" b="1" i="0">
                <a:solidFill>
                  <a:srgbClr val="E8EAED"/>
                </a:solidFill>
                <a:latin typeface="Georgia"/>
                <a:ea typeface="思源黑体 SC"/>
                <a:cs typeface="思源黑体 SC"/>
              </a:rPr>
              <a:t> 31% </a:t>
            </a:r>
            <a:r>
              <a:rPr sz="2550" b="1" i="0">
                <a:solidFill>
                  <a:srgbClr val="E8EAED"/>
                </a:solidFill>
                <a:latin typeface="思源黑体 SC"/>
                <a:ea typeface="思源黑体 SC"/>
                <a:cs typeface="思源黑体 SC"/>
              </a:rPr>
              <a:t>爬到了</a:t>
            </a:r>
            <a:r>
              <a:rPr sz="2550" b="1" i="0">
                <a:solidFill>
                  <a:srgbClr val="E8EAED"/>
                </a:solidFill>
                <a:latin typeface="Georgia"/>
                <a:ea typeface="思源黑体 SC"/>
                <a:cs typeface="思源黑体 SC"/>
              </a:rPr>
              <a:t> 67%</a:t>
            </a:r>
          </a:p>
        </p:txBody>
      </p:sp>
      <p:graphicFrame>
        <p:nvGraphicFramePr>
          <p:cNvPr id="5" name="d03_chart"/>
          <p:cNvGraphicFramePr>
            <a:graphicFrameLocks noGrp="1"/>
          </p:cNvGraphicFramePr>
          <p:nvPr/>
        </p:nvGraphicFramePr>
        <p:xfrm>
          <a:off x="457200" y="2209800"/>
          <a:ext cx="68580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03_kpi"/>
          <p:cNvSpPr txBox="1"/>
          <p:nvPr/>
        </p:nvSpPr>
        <p:spPr>
          <a:xfrm>
            <a:off x="7848600" y="2324100"/>
            <a:ext cx="3810000" cy="9525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6075"/>
              </a:lnSpc>
            </a:pPr>
            <a:r>
              <a:rPr sz="4500" b="1" i="0">
                <a:solidFill>
                  <a:srgbClr val="5AC8FA"/>
                </a:solidFill>
                <a:latin typeface="Georgia"/>
                <a:ea typeface="思源黑体 SC"/>
                <a:cs typeface="思源黑体 SC"/>
              </a:rPr>
              <a:t>67%</a:t>
            </a:r>
          </a:p>
        </p:txBody>
      </p:sp>
      <p:sp>
        <p:nvSpPr>
          <p:cNvPr id="7" name="d03_note"/>
          <p:cNvSpPr txBox="1"/>
          <p:nvPr/>
        </p:nvSpPr>
        <p:spPr>
          <a:xfrm>
            <a:off x="7848600" y="3581400"/>
            <a:ext cx="3810000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同期白天利用率稳定在</a:t>
            </a:r>
            <a:r>
              <a:rPr sz="120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91%</a:t>
            </a:r>
            <a:r>
              <a:rPr sz="12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：</a:t>
            </a:r>
          </a:p>
          <a:p>
            <a:pPr algn="l">
              <a:lnSpc>
                <a:spcPts val="1920"/>
              </a:lnSpc>
            </a:pPr>
            <a:r>
              <a:rPr sz="12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夜里涨的不是负载总量，</a:t>
            </a:r>
          </a:p>
          <a:p>
            <a:pPr algn="l">
              <a:lnSpc>
                <a:spcPts val="1920"/>
              </a:lnSpc>
            </a:pPr>
            <a:r>
              <a:rPr sz="12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是负载的摆放位置。</a:t>
            </a:r>
          </a:p>
        </p:txBody>
      </p:sp>
      <p:sp>
        <p:nvSpPr>
          <p:cNvPr id="8" name="src"/>
          <p:cNvSpPr txBox="1"/>
          <p:nvPr/>
        </p:nvSpPr>
        <p:spPr>
          <a:xfrm>
            <a:off x="457200" y="6400800"/>
            <a:ext cx="112776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来源：集群监控</a:t>
            </a:r>
            <a:r>
              <a:rPr sz="8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· </a:t>
            </a: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期间：</a:t>
            </a:r>
            <a:r>
              <a:rPr sz="8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 2026 </a:t>
            </a: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年</a:t>
            </a:r>
            <a:r>
              <a:rPr sz="8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7—12 </a:t>
            </a: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342900"/>
            <a:ext cx="30480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可挪移性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1315700" y="342900"/>
            <a:ext cx="4191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4</a:t>
            </a:r>
          </a:p>
        </p:txBody>
      </p:sp>
      <p:sp>
        <p:nvSpPr>
          <p:cNvPr id="4" name="d04_claim"/>
          <p:cNvSpPr txBox="1"/>
          <p:nvPr/>
        </p:nvSpPr>
        <p:spPr>
          <a:xfrm>
            <a:off x="457200" y="990600"/>
            <a:ext cx="7239000" cy="5715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42"/>
              </a:lnSpc>
            </a:pPr>
            <a:r>
              <a:rPr sz="2550" b="1" i="0">
                <a:solidFill>
                  <a:srgbClr val="E8EAED"/>
                </a:solidFill>
                <a:latin typeface="思源黑体 SC"/>
                <a:ea typeface="思源黑体 SC"/>
                <a:cs typeface="思源黑体 SC"/>
              </a:rPr>
              <a:t>卡在批处理任务的可挪移性</a:t>
            </a:r>
          </a:p>
        </p:txBody>
      </p:sp>
      <p:sp>
        <p:nvSpPr>
          <p:cNvPr id="5" name="d04_sub"/>
          <p:cNvSpPr txBox="1"/>
          <p:nvPr/>
        </p:nvSpPr>
        <p:spPr>
          <a:xfrm>
            <a:off x="457200" y="1790700"/>
            <a:ext cx="6667500" cy="381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可挪移负载占</a:t>
            </a:r>
            <a:r>
              <a:rPr sz="135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58%</a:t>
            </a:r>
            <a:r>
              <a:rPr sz="13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：离线批处理</a:t>
            </a:r>
            <a:r>
              <a:rPr sz="135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34% </a:t>
            </a:r>
            <a:r>
              <a:rPr sz="13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＋</a:t>
            </a:r>
            <a:r>
              <a:rPr sz="13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训练窗口</a:t>
            </a:r>
            <a:r>
              <a:rPr sz="135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24%</a:t>
            </a:r>
          </a:p>
        </p:txBody>
      </p:sp>
      <p:sp>
        <p:nvSpPr>
          <p:cNvPr id="6" name="d04_bar1"/>
          <p:cNvSpPr/>
          <p:nvPr/>
        </p:nvSpPr>
        <p:spPr>
          <a:xfrm>
            <a:off x="457200" y="2819400"/>
            <a:ext cx="4648200" cy="419100"/>
          </a:xfrm>
          <a:prstGeom prst="rect">
            <a:avLst/>
          </a:prstGeom>
          <a:solidFill>
            <a:srgbClr val="5AC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04_lbl1"/>
          <p:cNvSpPr txBox="1"/>
          <p:nvPr/>
        </p:nvSpPr>
        <p:spPr>
          <a:xfrm>
            <a:off x="457200" y="2438400"/>
            <a:ext cx="4648200" cy="304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1" i="0">
                <a:solidFill>
                  <a:srgbClr val="5AC8FA"/>
                </a:solidFill>
                <a:latin typeface="思源黑体 SC"/>
                <a:ea typeface="思源黑体 SC"/>
                <a:cs typeface="思源黑体 SC"/>
              </a:rPr>
              <a:t>可挪移</a:t>
            </a:r>
            <a:r>
              <a:rPr sz="1500" b="1" i="0">
                <a:solidFill>
                  <a:srgbClr val="5AC8FA"/>
                </a:solidFill>
                <a:latin typeface="Georgia"/>
                <a:ea typeface="思源黑体 SC"/>
                <a:cs typeface="思源黑体 SC"/>
              </a:rPr>
              <a:t> 58%</a:t>
            </a:r>
          </a:p>
        </p:txBody>
      </p:sp>
      <p:sp>
        <p:nvSpPr>
          <p:cNvPr id="8" name="d04_bar2"/>
          <p:cNvSpPr/>
          <p:nvPr/>
        </p:nvSpPr>
        <p:spPr>
          <a:xfrm>
            <a:off x="457200" y="3810000"/>
            <a:ext cx="3352800" cy="419100"/>
          </a:xfrm>
          <a:prstGeom prst="rect">
            <a:avLst/>
          </a:prstGeom>
          <a:solidFill>
            <a:srgbClr val="8B9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04_lbl2"/>
          <p:cNvSpPr txBox="1"/>
          <p:nvPr/>
        </p:nvSpPr>
        <p:spPr>
          <a:xfrm>
            <a:off x="457200" y="3429000"/>
            <a:ext cx="4648200" cy="304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实时推理</a:t>
            </a:r>
            <a:r>
              <a:rPr sz="135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42%</a:t>
            </a:r>
            <a:r>
              <a:rPr sz="13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（不可挪移）</a:t>
            </a:r>
          </a:p>
        </p:txBody>
      </p:sp>
      <p:sp>
        <p:nvSpPr>
          <p:cNvPr id="10" name="d04_note_a"/>
          <p:cNvSpPr txBox="1"/>
          <p:nvPr/>
        </p:nvSpPr>
        <p:spPr>
          <a:xfrm>
            <a:off x="6096000" y="2819400"/>
            <a:ext cx="5334000" cy="762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实时推理的</a:t>
            </a:r>
            <a:r>
              <a:rPr sz="120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42% </a:t>
            </a:r>
            <a:r>
              <a:rPr sz="12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不能动：</a:t>
            </a:r>
          </a:p>
          <a:p>
            <a:pPr algn="l">
              <a:lnSpc>
                <a:spcPts val="1920"/>
              </a:lnSpc>
            </a:pPr>
            <a:r>
              <a:rPr sz="12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它跟着用户在线时段走。</a:t>
            </a:r>
          </a:p>
        </p:txBody>
      </p:sp>
      <p:sp>
        <p:nvSpPr>
          <p:cNvPr id="11" name="d04_note_b"/>
          <p:cNvSpPr txBox="1"/>
          <p:nvPr/>
        </p:nvSpPr>
        <p:spPr>
          <a:xfrm>
            <a:off x="6096000" y="3810000"/>
            <a:ext cx="5334000" cy="762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能挪的只是离线批处理与训练窗口</a:t>
            </a:r>
            <a:r>
              <a:rPr sz="120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——</a:t>
            </a:r>
          </a:p>
          <a:p>
            <a:pPr algn="l">
              <a:lnSpc>
                <a:spcPts val="1920"/>
              </a:lnSpc>
            </a:pPr>
            <a:r>
              <a:rPr sz="12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第一批迁移只动这一半。</a:t>
            </a:r>
          </a:p>
        </p:txBody>
      </p:sp>
      <p:sp>
        <p:nvSpPr>
          <p:cNvPr id="12" name="src"/>
          <p:cNvSpPr txBox="1"/>
          <p:nvPr/>
        </p:nvSpPr>
        <p:spPr>
          <a:xfrm>
            <a:off x="457200" y="6400800"/>
            <a:ext cx="112776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来源：任务画像</a:t>
            </a:r>
            <a:r>
              <a:rPr sz="8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· </a:t>
            </a: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口径：近</a:t>
            </a:r>
            <a:r>
              <a:rPr sz="8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30 </a:t>
            </a: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天</a:t>
            </a:r>
            <a:r>
              <a:rPr sz="8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GPU </a:t>
            </a: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时占比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342900"/>
            <a:ext cx="30480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第一批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1315700" y="342900"/>
            <a:ext cx="419100" cy="2667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ts val="1215"/>
              </a:lnSpc>
            </a:pPr>
            <a:r>
              <a:rPr sz="90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5</a:t>
            </a:r>
          </a:p>
        </p:txBody>
      </p:sp>
      <p:sp>
        <p:nvSpPr>
          <p:cNvPr id="4" name="d05_claim"/>
          <p:cNvSpPr txBox="1"/>
          <p:nvPr/>
        </p:nvSpPr>
        <p:spPr>
          <a:xfrm>
            <a:off x="457200" y="990600"/>
            <a:ext cx="9144000" cy="5715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42"/>
              </a:lnSpc>
            </a:pPr>
            <a:r>
              <a:rPr sz="2550" b="1" i="0">
                <a:solidFill>
                  <a:srgbClr val="E8EAED"/>
                </a:solidFill>
                <a:latin typeface="思源黑体 SC"/>
                <a:ea typeface="思源黑体 SC"/>
                <a:cs typeface="思源黑体 SC"/>
              </a:rPr>
              <a:t>批准第一批迁移</a:t>
            </a:r>
            <a:r>
              <a:rPr sz="2550" b="1" i="0">
                <a:solidFill>
                  <a:srgbClr val="E8EAED"/>
                </a:solidFill>
                <a:latin typeface="Georgia"/>
                <a:ea typeface="思源黑体 SC"/>
                <a:cs typeface="思源黑体 SC"/>
              </a:rPr>
              <a:t> 40%</a:t>
            </a:r>
            <a:r>
              <a:rPr sz="2550" b="1" i="0">
                <a:solidFill>
                  <a:srgbClr val="E8EAED"/>
                </a:solidFill>
                <a:latin typeface="思源黑体 SC"/>
                <a:ea typeface="思源黑体 SC"/>
                <a:cs typeface="思源黑体 SC"/>
              </a:rPr>
              <a:t>：谷段利用率达</a:t>
            </a:r>
            <a:r>
              <a:rPr sz="2550" b="1" i="0">
                <a:solidFill>
                  <a:srgbClr val="E8EAED"/>
                </a:solidFill>
                <a:latin typeface="Georgia"/>
                <a:ea typeface="思源黑体 SC"/>
                <a:cs typeface="思源黑体 SC"/>
              </a:rPr>
              <a:t> 60% </a:t>
            </a:r>
            <a:r>
              <a:rPr sz="2550" b="1" i="0">
                <a:solidFill>
                  <a:srgbClr val="E8EAED"/>
                </a:solidFill>
                <a:latin typeface="思源黑体 SC"/>
                <a:ea typeface="思源黑体 SC"/>
                <a:cs typeface="思源黑体 SC"/>
              </a:rPr>
              <a:t>再谈扩容</a:t>
            </a:r>
          </a:p>
        </p:txBody>
      </p:sp>
      <p:sp>
        <p:nvSpPr>
          <p:cNvPr id="5" name="d05_ask"/>
          <p:cNvSpPr txBox="1"/>
          <p:nvPr/>
        </p:nvSpPr>
        <p:spPr>
          <a:xfrm>
            <a:off x="457200" y="2247900"/>
            <a:ext cx="4953000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7290"/>
              </a:lnSpc>
            </a:pPr>
            <a:r>
              <a:rPr sz="5400" b="1" i="0">
                <a:solidFill>
                  <a:srgbClr val="5AC8FA"/>
                </a:solidFill>
                <a:latin typeface="Georgia"/>
                <a:ea typeface="思源黑体 SC"/>
                <a:cs typeface="思源黑体 SC"/>
              </a:rPr>
              <a:t>40%</a:t>
            </a:r>
          </a:p>
        </p:txBody>
      </p:sp>
      <p:sp>
        <p:nvSpPr>
          <p:cNvPr id="6" name="d05_ask2"/>
          <p:cNvSpPr txBox="1"/>
          <p:nvPr/>
        </p:nvSpPr>
        <p:spPr>
          <a:xfrm>
            <a:off x="457200" y="3619500"/>
            <a:ext cx="4953000" cy="762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835"/>
              </a:lnSpc>
            </a:pPr>
            <a:r>
              <a:rPr sz="2100" b="0" i="0">
                <a:solidFill>
                  <a:srgbClr val="E8EAED"/>
                </a:solidFill>
                <a:latin typeface="思源黑体 SC"/>
                <a:ea typeface="思源黑体 SC"/>
                <a:cs typeface="思源黑体 SC"/>
              </a:rPr>
              <a:t>批处理负载迁入谷段</a:t>
            </a:r>
          </a:p>
        </p:txBody>
      </p:sp>
      <p:cxnSp>
        <p:nvCxnSpPr>
          <p:cNvPr id="7" name="d05_rule"/>
          <p:cNvCxnSpPr/>
          <p:nvPr/>
        </p:nvCxnSpPr>
        <p:spPr>
          <a:xfrm>
            <a:off x="6096000" y="2243138"/>
            <a:ext cx="5334000" cy="9524"/>
          </a:xfrm>
          <a:prstGeom prst="line">
            <a:avLst/>
          </a:prstGeom>
          <a:ln w="9525">
            <a:solidFill>
              <a:srgbClr val="8B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05_guard"/>
          <p:cNvSpPr txBox="1"/>
          <p:nvPr/>
        </p:nvSpPr>
        <p:spPr>
          <a:xfrm>
            <a:off x="6096000" y="2552700"/>
            <a:ext cx="5334000" cy="1524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同步把调度窗口从</a:t>
            </a:r>
            <a:r>
              <a:rPr sz="150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8 </a:t>
            </a:r>
            <a:r>
              <a:rPr sz="15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小时拉到</a:t>
            </a:r>
            <a:r>
              <a:rPr sz="150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10 </a:t>
            </a:r>
            <a:r>
              <a:rPr sz="15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小时；</a:t>
            </a:r>
          </a:p>
          <a:p>
            <a:pPr algn="l">
              <a:lnSpc>
                <a:spcPts val="2400"/>
              </a:lnSpc>
            </a:pPr>
            <a:r>
              <a:rPr sz="15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若</a:t>
            </a:r>
            <a:r>
              <a:rPr sz="150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2027Q1 </a:t>
            </a:r>
            <a:r>
              <a:rPr sz="15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谷段利用率低于</a:t>
            </a:r>
            <a:r>
              <a:rPr sz="1500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60%</a:t>
            </a:r>
            <a:r>
              <a:rPr sz="15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，</a:t>
            </a:r>
          </a:p>
          <a:p>
            <a:pPr algn="l">
              <a:lnSpc>
                <a:spcPts val="2400"/>
              </a:lnSpc>
            </a:pPr>
            <a:r>
              <a:rPr sz="1500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暂停扩容。</a:t>
            </a:r>
          </a:p>
        </p:txBody>
      </p:sp>
      <p:sp>
        <p:nvSpPr>
          <p:cNvPr id="9" name="src"/>
          <p:cNvSpPr txBox="1"/>
          <p:nvPr/>
        </p:nvSpPr>
        <p:spPr>
          <a:xfrm>
            <a:off x="457200" y="6400800"/>
            <a:ext cx="112776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来源：调度方案</a:t>
            </a:r>
            <a:r>
              <a:rPr sz="825" b="0" i="0">
                <a:solidFill>
                  <a:srgbClr val="8B93A0"/>
                </a:solidFill>
                <a:latin typeface="Georgia"/>
                <a:ea typeface="思源黑体 SC"/>
                <a:cs typeface="思源黑体 SC"/>
              </a:rPr>
              <a:t> · </a:t>
            </a:r>
            <a:r>
              <a:rPr sz="825" b="0" i="0">
                <a:solidFill>
                  <a:srgbClr val="8B93A0"/>
                </a:solidFill>
                <a:latin typeface="思源黑体 SC"/>
                <a:ea typeface="思源黑体 SC"/>
                <a:cs typeface="思源黑体 SC"/>
              </a:rPr>
              <a:t>护栏按季度复核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