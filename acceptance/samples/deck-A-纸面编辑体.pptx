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印尼单均履约成本（元）</c:v>
                </c:pt>
              </c:strCache>
            </c:strRef>
          </c:tx>
          <c:spPr>
            <a:ln w="22225">
              <a:solidFill>
                <a:srgbClr val="84807A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2024Q1</c:v>
                </c:pt>
                <c:pt idx="1">
                  <c:v>2024Q3</c:v>
                </c:pt>
                <c:pt idx="2">
                  <c:v>2025Q1</c:v>
                </c:pt>
                <c:pt idx="3">
                  <c:v>2025Q3</c:v>
                </c:pt>
                <c:pt idx="4">
                  <c:v>2025Q4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19.4</c:v>
                </c:pt>
                <c:pt idx="1">
                  <c:v>17.2</c:v>
                </c:pt>
                <c:pt idx="2">
                  <c:v>14.8</c:v>
                </c:pt>
                <c:pt idx="3">
                  <c:v>12.6</c:v>
                </c:pt>
                <c:pt idx="4">
                  <c:v>11.2</c:v>
                </c:pt>
              </c:numCache>
            </c:numRef>
          </c:val>
          <c:smooth val="0"/>
        </c:ser>
        <c:dLbls>
          <c:numFmt formatCode="General&quot;元&quot;" sourceLinked="0"/>
          <c:txPr>
            <a:bodyPr/>
            <a:lstStyle/>
            <a:p>
              <a:pPr>
                <a:defRPr sz="975">
                  <a:solidFill>
                    <a:srgbClr val="12120F"/>
                  </a:solidFill>
                  <a:latin typeface="Georgia"/>
                  <a:ea typeface="Source Han Serif SC"/>
                  <a:cs typeface="Source Han Serif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75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975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设备平均维护周期（个月）</c:v>
                </c:pt>
              </c:strCache>
            </c:strRef>
          </c:tx>
          <c:spPr>
            <a:solidFill>
              <a:srgbClr val="12120F"/>
            </a:solidFill>
            <a:ln>
              <a:noFill/>
            </a:ln>
          </c:spPr>
          <c:dPt>
            <c:idx val="2"/>
            <c:spPr>
              <a:solidFill>
                <a:srgbClr val="6E6A63"/>
              </a:solidFill>
              <a:ln>
                <a:solidFill>
                  <a:srgbClr val="6E6A63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2024 年</c:v>
                </c:pt>
                <c:pt idx="1">
                  <c:v>2025 年</c:v>
                </c:pt>
                <c:pt idx="2">
                  <c:v>2026H1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19.0</c:v>
                </c:pt>
                <c:pt idx="1">
                  <c:v>14.0</c:v>
                </c:pt>
                <c:pt idx="2">
                  <c:v>11.0</c:v>
                </c:pt>
              </c:numCache>
            </c:numRef>
          </c:val>
        </c:ser>
        <c:dLbls>
          <c:numFmt formatCode="General&quot;个月&quot;" sourceLinked="0"/>
          <c:txPr>
            <a:bodyPr/>
            <a:lstStyle/>
            <a:p>
              <a:pPr>
                <a:defRPr sz="1125">
                  <a:solidFill>
                    <a:srgbClr val="12120F"/>
                  </a:solidFill>
                  <a:latin typeface="Georgia"/>
                  <a:ea typeface="Source Han Serif SC"/>
                  <a:cs typeface="Source Han Serif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849999999999998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东南亚</a:t>
            </a:r>
          </a:p>
        </p:txBody>
      </p:sp>
      <p:sp>
        <p:nvSpPr>
          <p:cNvPr id="3" name="s01_title"/>
          <p:cNvSpPr txBox="1"/>
          <p:nvPr/>
        </p:nvSpPr>
        <p:spPr>
          <a:xfrm>
            <a:off x="1143000" y="2247900"/>
            <a:ext cx="9906000" cy="1600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467"/>
              </a:lnSpc>
            </a:pPr>
            <a:r>
              <a:rPr sz="40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东南亚是我们未来五年</a:t>
            </a:r>
          </a:p>
          <a:p>
            <a:pPr algn="l">
              <a:lnSpc>
                <a:spcPts val="5467"/>
              </a:lnSpc>
            </a:pPr>
            <a:r>
              <a:rPr sz="40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唯一还能拿到结构性增长的战场</a:t>
            </a:r>
          </a:p>
        </p:txBody>
      </p:sp>
      <p:sp>
        <p:nvSpPr>
          <p:cNvPr id="4" name="s01_sub"/>
          <p:cNvSpPr txBox="1"/>
          <p:nvPr/>
        </p:nvSpPr>
        <p:spPr>
          <a:xfrm>
            <a:off x="1143000" y="4076700"/>
            <a:ext cx="6096000" cy="381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2027 </a:t>
            </a:r>
            <a:r>
              <a:rPr sz="135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东南亚仓配网络提案</a:t>
            </a:r>
          </a:p>
        </p:txBody>
      </p:sp>
      <p:cxnSp>
        <p:nvCxnSpPr>
          <p:cNvPr id="5" name="s01_rule"/>
          <p:cNvCxnSpPr/>
          <p:nvPr/>
        </p:nvCxnSpPr>
        <p:spPr>
          <a:xfrm>
            <a:off x="1143000" y="3914775"/>
            <a:ext cx="914400" cy="19050"/>
          </a:xfrm>
          <a:prstGeom prst="line">
            <a:avLst/>
          </a:prstGeom>
          <a:ln w="19050">
            <a:solidFill>
              <a:srgbClr val="6E6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三个市场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2</a:t>
            </a:r>
          </a:p>
        </p:txBody>
      </p:sp>
      <p:sp>
        <p:nvSpPr>
          <p:cNvPr id="4" name="s02_claim"/>
          <p:cNvSpPr txBox="1"/>
          <p:nvPr/>
        </p:nvSpPr>
        <p:spPr>
          <a:xfrm>
            <a:off x="457200" y="914400"/>
            <a:ext cx="7239000" cy="1028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42"/>
              </a:lnSpc>
            </a:pPr>
            <a:r>
              <a:rPr sz="25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三个市场里只有印尼跑通了单位经济，</a:t>
            </a:r>
          </a:p>
          <a:p>
            <a:pPr algn="l">
              <a:lnSpc>
                <a:spcPts val="3442"/>
              </a:lnSpc>
            </a:pPr>
            <a:r>
              <a:rPr sz="25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而且是靠自营履约跑通的</a:t>
            </a:r>
          </a:p>
        </p:txBody>
      </p:sp>
      <p:graphicFrame>
        <p:nvGraphicFramePr>
          <p:cNvPr id="5" name="s02_chart"/>
          <p:cNvGraphicFramePr>
            <a:graphicFrameLocks noGrp="1"/>
          </p:cNvGraphicFramePr>
          <p:nvPr/>
        </p:nvGraphicFramePr>
        <p:xfrm>
          <a:off x="457200" y="2362200"/>
          <a:ext cx="68580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02_kpi"/>
          <p:cNvSpPr txBox="1"/>
          <p:nvPr/>
        </p:nvSpPr>
        <p:spPr>
          <a:xfrm>
            <a:off x="7848600" y="2362200"/>
            <a:ext cx="38100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480"/>
              </a:lnSpc>
            </a:pPr>
            <a:r>
              <a:rPr sz="4800" b="1" i="0">
                <a:solidFill>
                  <a:srgbClr val="6E6A63"/>
                </a:solidFill>
                <a:latin typeface="Georgia"/>
                <a:ea typeface="Source Han Serif SC"/>
                <a:cs typeface="Source Han Serif SC"/>
              </a:rPr>
              <a:t>11.2 </a:t>
            </a:r>
            <a:r>
              <a:rPr sz="4800" b="1" i="0">
                <a:solidFill>
                  <a:srgbClr val="6E6A63"/>
                </a:solidFill>
                <a:latin typeface="Source Han Serif SC"/>
                <a:ea typeface="Source Han Serif SC"/>
                <a:cs typeface="Source Han Serif SC"/>
              </a:rPr>
              <a:t>元</a:t>
            </a:r>
          </a:p>
        </p:txBody>
      </p:sp>
      <p:sp>
        <p:nvSpPr>
          <p:cNvPr id="7" name="s02_kpi_note"/>
          <p:cNvSpPr txBox="1"/>
          <p:nvPr/>
        </p:nvSpPr>
        <p:spPr>
          <a:xfrm>
            <a:off x="7848600" y="3352800"/>
            <a:ext cx="38100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单均履约成本</a:t>
            </a:r>
            <a:r>
              <a:rPr sz="1125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19.4 </a:t>
            </a: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元</a:t>
            </a:r>
            <a:r>
              <a:rPr sz="1125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→ 11.2 </a:t>
            </a: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元，降幅</a:t>
            </a:r>
            <a:r>
              <a:rPr sz="1125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42.3%</a:t>
            </a: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；</a:t>
            </a:r>
          </a:p>
          <a:p>
            <a:pPr algn="l">
              <a:lnSpc>
                <a:spcPts val="1687"/>
              </a:lnSpc>
            </a:pP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同期客单价</a:t>
            </a:r>
            <a:r>
              <a:rPr sz="1125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68 </a:t>
            </a: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元升至</a:t>
            </a:r>
            <a:r>
              <a:rPr sz="1125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83 </a:t>
            </a: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元。</a:t>
            </a:r>
          </a:p>
          <a:p>
            <a:pPr algn="l">
              <a:lnSpc>
                <a:spcPts val="1687"/>
              </a:lnSpc>
            </a:pP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泰国曼谷加盟</a:t>
            </a:r>
            <a:r>
              <a:rPr sz="1125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16.8 </a:t>
            </a: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元</a:t>
            </a:r>
            <a:r>
              <a:rPr sz="1125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· </a:t>
            </a: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越南胡志明</a:t>
            </a:r>
            <a:r>
              <a:rPr sz="1125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14.5 </a:t>
            </a:r>
            <a:r>
              <a:rPr sz="1125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元</a:t>
            </a:r>
          </a:p>
        </p:txBody>
      </p:sp>
      <p:sp>
        <p:nvSpPr>
          <p:cNvPr id="8" name="src"/>
          <p:cNvSpPr txBox="1"/>
          <p:nvPr/>
        </p:nvSpPr>
        <p:spPr>
          <a:xfrm>
            <a:off x="457200" y="6400800"/>
            <a:ext cx="112776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来源：三国仓配台账</a:t>
            </a:r>
            <a:r>
              <a:rPr sz="825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 · </a:t>
            </a: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口径：自营仓单均履约成本，含干线与末端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维护周期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3</a:t>
            </a:r>
          </a:p>
        </p:txBody>
      </p:sp>
      <p:sp>
        <p:nvSpPr>
          <p:cNvPr id="4" name="s03_claim"/>
          <p:cNvSpPr txBox="1"/>
          <p:nvPr/>
        </p:nvSpPr>
        <p:spPr>
          <a:xfrm>
            <a:off x="457200" y="914400"/>
            <a:ext cx="6858000" cy="571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42"/>
              </a:lnSpc>
            </a:pPr>
            <a:r>
              <a:rPr sz="25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维护周期由</a:t>
            </a:r>
            <a:r>
              <a:rPr sz="2550" b="1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19 </a:t>
            </a:r>
            <a:r>
              <a:rPr sz="25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个月缩至</a:t>
            </a:r>
            <a:r>
              <a:rPr sz="2550" b="1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11 </a:t>
            </a:r>
            <a:r>
              <a:rPr sz="25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个月</a:t>
            </a:r>
          </a:p>
        </p:txBody>
      </p:sp>
      <p:graphicFrame>
        <p:nvGraphicFramePr>
          <p:cNvPr id="5" name="s03_chart"/>
          <p:cNvGraphicFramePr>
            <a:graphicFrameLocks noGrp="1"/>
          </p:cNvGraphicFramePr>
          <p:nvPr/>
        </p:nvGraphicFramePr>
        <p:xfrm>
          <a:off x="457200" y="2057400"/>
          <a:ext cx="6667500" cy="3619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03_side"/>
          <p:cNvSpPr txBox="1"/>
          <p:nvPr/>
        </p:nvSpPr>
        <p:spPr>
          <a:xfrm>
            <a:off x="7734300" y="2286000"/>
            <a:ext cx="40005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同期单仓月均处理件数</a:t>
            </a:r>
          </a:p>
          <a:p>
            <a:pPr algn="l">
              <a:lnSpc>
                <a:spcPts val="2475"/>
              </a:lnSpc>
            </a:pPr>
            <a:r>
              <a:rPr sz="165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由</a:t>
            </a:r>
            <a:r>
              <a:rPr sz="1650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42 </a:t>
            </a:r>
            <a:r>
              <a:rPr sz="165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万件升至</a:t>
            </a:r>
            <a:r>
              <a:rPr sz="1650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61 </a:t>
            </a:r>
            <a:r>
              <a:rPr sz="165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万件</a:t>
            </a:r>
          </a:p>
        </p:txBody>
      </p:sp>
      <p:sp>
        <p:nvSpPr>
          <p:cNvPr id="7" name="s03_note"/>
          <p:cNvSpPr txBox="1"/>
          <p:nvPr/>
        </p:nvSpPr>
        <p:spPr>
          <a:xfrm>
            <a:off x="7734300" y="3733800"/>
            <a:ext cx="4000500" cy="762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周期缩短与处理量上升同时发生：</a:t>
            </a:r>
          </a:p>
          <a:p>
            <a:pPr algn="l">
              <a:lnSpc>
                <a:spcPts val="1687"/>
              </a:lnSpc>
            </a:pPr>
            <a:r>
              <a:rPr sz="11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不是以停机换来的数字。</a:t>
            </a:r>
          </a:p>
        </p:txBody>
      </p:sp>
      <p:sp>
        <p:nvSpPr>
          <p:cNvPr id="8" name="src"/>
          <p:cNvSpPr txBox="1"/>
          <p:nvPr/>
        </p:nvSpPr>
        <p:spPr>
          <a:xfrm>
            <a:off x="457200" y="6400800"/>
            <a:ext cx="112776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来源：设备维护台账</a:t>
            </a:r>
            <a:r>
              <a:rPr sz="825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 · </a:t>
            </a: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期间：</a:t>
            </a:r>
            <a:r>
              <a:rPr sz="825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 2024 </a:t>
            </a: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年</a:t>
            </a:r>
            <a:r>
              <a:rPr sz="825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—2026 </a:t>
            </a: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年上半年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清关时效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4</a:t>
            </a:r>
          </a:p>
        </p:txBody>
      </p:sp>
      <p:sp>
        <p:nvSpPr>
          <p:cNvPr id="4" name="s04_claim"/>
          <p:cNvSpPr txBox="1"/>
          <p:nvPr/>
        </p:nvSpPr>
        <p:spPr>
          <a:xfrm>
            <a:off x="457200" y="1143000"/>
            <a:ext cx="68580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050"/>
              </a:lnSpc>
            </a:pPr>
            <a:r>
              <a:rPr sz="300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清关时效在越南与印尼不同</a:t>
            </a:r>
          </a:p>
        </p:txBody>
      </p:sp>
      <p:sp>
        <p:nvSpPr>
          <p:cNvPr id="5" name="s04_vn"/>
          <p:cNvSpPr txBox="1"/>
          <p:nvPr/>
        </p:nvSpPr>
        <p:spPr>
          <a:xfrm>
            <a:off x="457200" y="2971800"/>
            <a:ext cx="28575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25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越南</a:t>
            </a:r>
          </a:p>
          <a:p>
            <a:pPr algn="l">
              <a:lnSpc>
                <a:spcPts val="3150"/>
              </a:lnSpc>
            </a:pPr>
            <a:r>
              <a:rPr sz="2250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1.8 </a:t>
            </a:r>
            <a:r>
              <a:rPr sz="225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天</a:t>
            </a:r>
          </a:p>
        </p:txBody>
      </p:sp>
      <p:sp>
        <p:nvSpPr>
          <p:cNvPr id="6" name="s04_idn"/>
          <p:cNvSpPr txBox="1"/>
          <p:nvPr/>
        </p:nvSpPr>
        <p:spPr>
          <a:xfrm>
            <a:off x="457200" y="4343400"/>
            <a:ext cx="28575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25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印尼</a:t>
            </a:r>
          </a:p>
          <a:p>
            <a:pPr algn="l">
              <a:lnSpc>
                <a:spcPts val="3150"/>
              </a:lnSpc>
            </a:pPr>
            <a:r>
              <a:rPr sz="2250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6.4 </a:t>
            </a:r>
            <a:r>
              <a:rPr sz="225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天</a:t>
            </a:r>
          </a:p>
        </p:txBody>
      </p:sp>
      <p:cxnSp>
        <p:nvCxnSpPr>
          <p:cNvPr id="7" name="s04_axis"/>
          <p:cNvCxnSpPr/>
          <p:nvPr/>
        </p:nvCxnSpPr>
        <p:spPr>
          <a:xfrm>
            <a:off x="457200" y="4110038"/>
            <a:ext cx="2857500" cy="9524"/>
          </a:xfrm>
          <a:prstGeom prst="line">
            <a:avLst/>
          </a:prstGeom>
          <a:ln w="9525">
            <a:solidFill>
              <a:srgbClr val="8A89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04_why"/>
          <p:cNvSpPr txBox="1"/>
          <p:nvPr/>
        </p:nvSpPr>
        <p:spPr>
          <a:xfrm>
            <a:off x="3962400" y="2971800"/>
            <a:ext cx="42291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12"/>
              </a:lnSpc>
            </a:pPr>
            <a:r>
              <a:rPr sz="1875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差异主要来自口岸流程</a:t>
            </a:r>
          </a:p>
        </p:txBody>
      </p:sp>
      <p:sp>
        <p:nvSpPr>
          <p:cNvPr id="9" name="s04_range"/>
          <p:cNvSpPr txBox="1"/>
          <p:nvPr/>
        </p:nvSpPr>
        <p:spPr>
          <a:xfrm>
            <a:off x="3962400" y="4343400"/>
            <a:ext cx="5562600" cy="762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库存周转天数在</a:t>
            </a:r>
            <a:r>
              <a:rPr sz="12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 21 </a:t>
            </a:r>
            <a:r>
              <a:rPr sz="120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至</a:t>
            </a:r>
            <a:r>
              <a:rPr sz="12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 47 </a:t>
            </a:r>
            <a:r>
              <a:rPr sz="120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天之间摆动</a:t>
            </a:r>
          </a:p>
        </p:txBody>
      </p:sp>
      <p:sp>
        <p:nvSpPr>
          <p:cNvPr id="10" name="src"/>
          <p:cNvSpPr txBox="1"/>
          <p:nvPr/>
        </p:nvSpPr>
        <p:spPr>
          <a:xfrm>
            <a:off x="457200" y="6400800"/>
            <a:ext cx="112776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来源：口岸记录与库存台账</a:t>
            </a:r>
            <a:r>
              <a:rPr sz="825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 · </a:t>
            </a: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期间：</a:t>
            </a:r>
            <a:r>
              <a:rPr sz="825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 2026 </a:t>
            </a: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年</a:t>
            </a:r>
            <a:r>
              <a:rPr sz="825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 1—9 </a:t>
            </a: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本轮请求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5</a:t>
            </a:r>
          </a:p>
        </p:txBody>
      </p:sp>
      <p:sp>
        <p:nvSpPr>
          <p:cNvPr id="4" name="s05_claim"/>
          <p:cNvSpPr txBox="1"/>
          <p:nvPr/>
        </p:nvSpPr>
        <p:spPr>
          <a:xfrm>
            <a:off x="457200" y="990600"/>
            <a:ext cx="8572500" cy="609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42"/>
              </a:lnSpc>
            </a:pPr>
            <a:r>
              <a:rPr sz="25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先把店长培养周期压回</a:t>
            </a:r>
            <a:r>
              <a:rPr sz="2550" b="1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6 </a:t>
            </a:r>
            <a:r>
              <a:rPr sz="255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个月，再谈第三轮扩张</a:t>
            </a:r>
          </a:p>
        </p:txBody>
      </p:sp>
      <p:sp>
        <p:nvSpPr>
          <p:cNvPr id="5" name="s05_ask"/>
          <p:cNvSpPr txBox="1"/>
          <p:nvPr/>
        </p:nvSpPr>
        <p:spPr>
          <a:xfrm>
            <a:off x="457200" y="2209800"/>
            <a:ext cx="49530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65"/>
              </a:lnSpc>
            </a:pPr>
            <a:r>
              <a:rPr sz="3900" b="1" i="0">
                <a:solidFill>
                  <a:srgbClr val="6E6A63"/>
                </a:solidFill>
                <a:latin typeface="Source Han Serif SC"/>
                <a:ea typeface="Source Han Serif SC"/>
                <a:cs typeface="Source Han Serif SC"/>
              </a:rPr>
              <a:t>批准本轮</a:t>
            </a:r>
            <a:r>
              <a:rPr sz="3900" b="1" i="0">
                <a:solidFill>
                  <a:srgbClr val="6E6A63"/>
                </a:solidFill>
                <a:latin typeface="Georgia"/>
                <a:ea typeface="Source Han Serif SC"/>
                <a:cs typeface="Source Han Serif SC"/>
              </a:rPr>
              <a:t> 30 </a:t>
            </a:r>
            <a:r>
              <a:rPr sz="3900" b="1" i="0">
                <a:solidFill>
                  <a:srgbClr val="6E6A63"/>
                </a:solidFill>
                <a:latin typeface="Source Han Serif SC"/>
                <a:ea typeface="Source Han Serif SC"/>
                <a:cs typeface="Source Han Serif SC"/>
              </a:rPr>
              <a:t>家</a:t>
            </a:r>
          </a:p>
        </p:txBody>
      </p:sp>
      <p:sp>
        <p:nvSpPr>
          <p:cNvPr id="6" name="s05_ask2"/>
          <p:cNvSpPr txBox="1"/>
          <p:nvPr/>
        </p:nvSpPr>
        <p:spPr>
          <a:xfrm>
            <a:off x="457200" y="3657600"/>
            <a:ext cx="49530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35"/>
              </a:lnSpc>
            </a:pPr>
            <a:r>
              <a:rPr sz="210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培训基地</a:t>
            </a:r>
            <a:r>
              <a:rPr sz="2100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2 </a:t>
            </a:r>
            <a:r>
              <a:rPr sz="210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个</a:t>
            </a:r>
            <a:r>
              <a:rPr sz="2100" b="0" i="0">
                <a:solidFill>
                  <a:srgbClr val="12120F"/>
                </a:solidFill>
                <a:latin typeface="Georgia"/>
                <a:ea typeface="Source Han Serif SC"/>
                <a:cs typeface="Source Han Serif SC"/>
              </a:rPr>
              <a:t> → 3 </a:t>
            </a:r>
            <a:r>
              <a:rPr sz="2100" b="0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个</a:t>
            </a:r>
          </a:p>
        </p:txBody>
      </p:sp>
      <p:sp>
        <p:nvSpPr>
          <p:cNvPr id="7" name="s05_guard"/>
          <p:cNvSpPr txBox="1"/>
          <p:nvPr/>
        </p:nvSpPr>
        <p:spPr>
          <a:xfrm>
            <a:off x="6096000" y="2209800"/>
            <a:ext cx="5334000" cy="1524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若</a:t>
            </a:r>
            <a:r>
              <a:rPr sz="15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 2027Q1 </a:t>
            </a:r>
            <a:r>
              <a:rPr sz="150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店长培养周期仍高于</a:t>
            </a:r>
            <a:r>
              <a:rPr sz="15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 7 </a:t>
            </a:r>
            <a:r>
              <a:rPr sz="150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个月，</a:t>
            </a:r>
          </a:p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暂停后续批次。</a:t>
            </a:r>
          </a:p>
        </p:txBody>
      </p:sp>
      <p:cxnSp>
        <p:nvCxnSpPr>
          <p:cNvPr id="8" name="s05_rule"/>
          <p:cNvCxnSpPr/>
          <p:nvPr/>
        </p:nvCxnSpPr>
        <p:spPr>
          <a:xfrm>
            <a:off x="6096000" y="2052638"/>
            <a:ext cx="5334000" cy="9524"/>
          </a:xfrm>
          <a:prstGeom prst="line">
            <a:avLst/>
          </a:prstGeom>
          <a:ln w="9525">
            <a:solidFill>
              <a:srgbClr val="8A89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rc"/>
          <p:cNvSpPr txBox="1"/>
          <p:nvPr/>
        </p:nvSpPr>
        <p:spPr>
          <a:xfrm>
            <a:off x="457200" y="6400800"/>
            <a:ext cx="112776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口径：培养周期＝入训至独立顶岗；护栏按季度复核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买能力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A8984"/>
                </a:solidFill>
                <a:latin typeface="Georgia"/>
                <a:ea typeface="Source Han Serif SC"/>
                <a:cs typeface="Source Han Serif SC"/>
              </a:rPr>
              <a:t>6</a:t>
            </a:r>
          </a:p>
        </p:txBody>
      </p:sp>
      <p:sp>
        <p:nvSpPr>
          <p:cNvPr id="4" name="s06_close"/>
          <p:cNvSpPr txBox="1"/>
          <p:nvPr/>
        </p:nvSpPr>
        <p:spPr>
          <a:xfrm>
            <a:off x="1143000" y="2438400"/>
            <a:ext cx="9906000" cy="1600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459"/>
              </a:lnSpc>
            </a:pPr>
            <a:r>
              <a:rPr sz="390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我们不是在赌市场，</a:t>
            </a:r>
          </a:p>
          <a:p>
            <a:pPr algn="l">
              <a:lnSpc>
                <a:spcPts val="5459"/>
              </a:lnSpc>
            </a:pPr>
            <a:r>
              <a:rPr sz="3900" b="1" i="0">
                <a:solidFill>
                  <a:srgbClr val="12120F"/>
                </a:solidFill>
                <a:latin typeface="Source Han Serif SC"/>
                <a:ea typeface="Source Han Serif SC"/>
                <a:cs typeface="Source Han Serif SC"/>
              </a:rPr>
              <a:t>是在买能力</a:t>
            </a:r>
          </a:p>
        </p:txBody>
      </p:sp>
      <p:sp>
        <p:nvSpPr>
          <p:cNvPr id="5" name="s06_sub"/>
          <p:cNvSpPr txBox="1"/>
          <p:nvPr/>
        </p:nvSpPr>
        <p:spPr>
          <a:xfrm>
            <a:off x="1143000" y="4152900"/>
            <a:ext cx="6858000" cy="381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8A8984"/>
                </a:solidFill>
                <a:latin typeface="Source Han Serif SC"/>
                <a:ea typeface="Source Han Serif SC"/>
                <a:cs typeface="Source Han Serif SC"/>
              </a:rPr>
              <a:t>仓配与清关能力一旦建成，三个市场共用。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