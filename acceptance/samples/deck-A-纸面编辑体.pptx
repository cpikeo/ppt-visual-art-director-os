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印尼单均履约成本（元）</c:v>
                </c:pt>
              </c:strCache>
            </c:strRef>
          </c:tx>
          <c:spPr>
            <a:ln w="22225">
              <a:solidFill>
                <a:srgbClr val="84807A"/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2024Q1</c:v>
                </c:pt>
                <c:pt idx="1">
                  <c:v>2024Q3</c:v>
                </c:pt>
                <c:pt idx="2">
                  <c:v>2025Q1</c:v>
                </c:pt>
                <c:pt idx="3">
                  <c:v>2025Q3</c:v>
                </c:pt>
                <c:pt idx="4">
                  <c:v>2025Q4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19.4</c:v>
                </c:pt>
                <c:pt idx="1">
                  <c:v>17.2</c:v>
                </c:pt>
                <c:pt idx="2">
                  <c:v>14.8</c:v>
                </c:pt>
                <c:pt idx="3">
                  <c:v>12.6</c:v>
                </c:pt>
                <c:pt idx="4">
                  <c:v>11.2</c:v>
                </c:pt>
              </c:numCache>
            </c:numRef>
          </c:val>
          <c:smooth val="0"/>
        </c:ser>
        <c:dLbls>
          <c:numFmt formatCode="General&quot;元&quot;" sourceLinked="0"/>
          <c:txPr>
            <a:bodyPr/>
            <a:lstStyle/>
            <a:p>
              <a:pPr>
                <a:defRPr sz="975">
                  <a:solidFill>
                    <a:srgbClr val="12120F"/>
                  </a:solidFill>
                  <a:latin typeface="Georgia"/>
                  <a:ea typeface="Source Han Serif SC"/>
                  <a:cs typeface="Source Han Serif SC"/>
                </a:defRPr>
              </a:pPr>
            </a:p>
          </c:txPr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75">
                <a:solidFill>
                  <a:srgbClr val="12120F"/>
                </a:solidFill>
                <a:latin typeface="Georgia"/>
                <a:ea typeface="Source Han Serif SC"/>
                <a:cs typeface="Source Han Serif SC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one"/>
        <c:spPr>
          <a:ln>
            <a:noFill/>
          </a:ln>
        </c:spPr>
        <c:txPr>
          <a:bodyPr/>
          <a:lstStyle/>
          <a:p>
            <a:pPr>
              <a:defRPr sz="975">
                <a:solidFill>
                  <a:srgbClr val="8A8984"/>
                </a:solidFill>
                <a:latin typeface="Georgia"/>
                <a:ea typeface="Source Han Serif SC"/>
                <a:cs typeface="Source Han Serif SC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设备平均维护周期（个月）</c:v>
                </c:pt>
              </c:strCache>
            </c:strRef>
          </c:tx>
          <c:spPr>
            <a:solidFill>
              <a:srgbClr val="84807A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2024 年</c:v>
                </c:pt>
                <c:pt idx="1">
                  <c:v>2025 年</c:v>
                </c:pt>
                <c:pt idx="2">
                  <c:v>2026H1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19.0</c:v>
                </c:pt>
                <c:pt idx="1">
                  <c:v>14.0</c:v>
                </c:pt>
                <c:pt idx="2">
                  <c:v>11.0</c:v>
                </c:pt>
              </c:numCache>
            </c:numRef>
          </c:val>
        </c:ser>
        <c:dLbls>
          <c:numFmt formatCode="General&quot;个月&quot;" sourceLinked="0"/>
          <c:txPr>
            <a:bodyPr/>
            <a:lstStyle/>
            <a:p>
              <a:pPr>
                <a:defRPr sz="1125">
                  <a:solidFill>
                    <a:srgbClr val="12120F"/>
                  </a:solidFill>
                  <a:latin typeface="Georgia"/>
                  <a:ea typeface="Source Han Serif SC"/>
                  <a:cs typeface="Source Han Serif S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50">
                <a:solidFill>
                  <a:srgbClr val="12120F"/>
                </a:solidFill>
                <a:latin typeface="Georgia"/>
                <a:ea typeface="Source Han Serif SC"/>
                <a:cs typeface="Source Han Serif S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TickMark val="out"/>
        <c:minorTickMark val="none"/>
        <c:tickLblPos val="none"/>
        <c:spPr>
          <a:ln>
            <a:noFill/>
          </a:ln>
        </c:spPr>
        <c:txPr>
          <a:bodyPr/>
          <a:lstStyle/>
          <a:p>
            <a:pPr>
              <a:defRPr sz="1050">
                <a:solidFill>
                  <a:srgbClr val="8A8984"/>
                </a:solidFill>
                <a:latin typeface="Georgia"/>
                <a:ea typeface="Source Han Serif SC"/>
                <a:cs typeface="Source Han Serif S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457200" y="342900"/>
            <a:ext cx="3048000" cy="2667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1417"/>
              </a:lnSpc>
            </a:pPr>
            <a:r>
              <a:rPr sz="1050" b="0" i="0">
                <a:solidFill>
                  <a:srgbClr val="8A8984"/>
                </a:solidFill>
                <a:latin typeface="Source Han Serif SC"/>
                <a:ea typeface="Source Han Serif SC"/>
                <a:cs typeface="Source Han Serif SC"/>
              </a:rPr>
              <a:t>东南亚</a:t>
            </a:r>
          </a:p>
        </p:txBody>
      </p:sp>
      <p:sp>
        <p:nvSpPr>
          <p:cNvPr id="3" name="s01_title"/>
          <p:cNvSpPr txBox="1"/>
          <p:nvPr/>
        </p:nvSpPr>
        <p:spPr>
          <a:xfrm>
            <a:off x="1143000" y="2247900"/>
            <a:ext cx="9906000" cy="1600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467"/>
              </a:lnSpc>
            </a:pPr>
            <a:r>
              <a:rPr sz="4050" b="1" i="0">
                <a:solidFill>
                  <a:srgbClr val="12120F"/>
                </a:solidFill>
                <a:latin typeface="Source Han Serif SC"/>
                <a:ea typeface="Source Han Serif SC"/>
                <a:cs typeface="Source Han Serif SC"/>
              </a:rPr>
              <a:t>东南亚是我们未来五年</a:t>
            </a:r>
          </a:p>
          <a:p>
            <a:pPr algn="l">
              <a:lnSpc>
                <a:spcPts val="5467"/>
              </a:lnSpc>
            </a:pPr>
            <a:r>
              <a:rPr sz="4050" b="1" i="0">
                <a:solidFill>
                  <a:srgbClr val="12120F"/>
                </a:solidFill>
                <a:latin typeface="Source Han Serif SC"/>
                <a:ea typeface="Source Han Serif SC"/>
                <a:cs typeface="Source Han Serif SC"/>
              </a:rPr>
              <a:t>唯一还能拿到结构性增长的战场</a:t>
            </a:r>
          </a:p>
        </p:txBody>
      </p:sp>
      <p:sp>
        <p:nvSpPr>
          <p:cNvPr id="4" name="s01_sub"/>
          <p:cNvSpPr txBox="1"/>
          <p:nvPr/>
        </p:nvSpPr>
        <p:spPr>
          <a:xfrm>
            <a:off x="1143000" y="4076700"/>
            <a:ext cx="6096000" cy="3810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22"/>
              </a:lnSpc>
            </a:pPr>
            <a:r>
              <a:rPr sz="1350" b="0" i="0">
                <a:solidFill>
                  <a:srgbClr val="8A8984"/>
                </a:solidFill>
                <a:latin typeface="Georgia"/>
                <a:ea typeface="Source Han Serif SC"/>
                <a:cs typeface="Source Han Serif SC"/>
              </a:rPr>
              <a:t>2027 </a:t>
            </a:r>
            <a:r>
              <a:rPr sz="1350" b="0" i="0">
                <a:solidFill>
                  <a:srgbClr val="8A8984"/>
                </a:solidFill>
                <a:latin typeface="Source Han Serif SC"/>
                <a:ea typeface="Source Han Serif SC"/>
                <a:cs typeface="Source Han Serif SC"/>
              </a:rPr>
              <a:t>东南亚仓配网络提案</a:t>
            </a:r>
          </a:p>
        </p:txBody>
      </p:sp>
      <p:cxnSp>
        <p:nvCxnSpPr>
          <p:cNvPr id="5" name="s01_rule"/>
          <p:cNvCxnSpPr/>
          <p:nvPr/>
        </p:nvCxnSpPr>
        <p:spPr>
          <a:xfrm>
            <a:off x="1143000" y="3914775"/>
            <a:ext cx="914400" cy="19050"/>
          </a:xfrm>
          <a:prstGeom prst="line">
            <a:avLst/>
          </a:prstGeom>
          <a:ln w="19050">
            <a:solidFill>
              <a:srgbClr val="6E6A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457200" y="342900"/>
            <a:ext cx="3048000" cy="2667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1417"/>
              </a:lnSpc>
            </a:pPr>
            <a:r>
              <a:rPr sz="1050" b="0" i="0">
                <a:solidFill>
                  <a:srgbClr val="8A8984"/>
                </a:solidFill>
                <a:latin typeface="Source Han Serif SC"/>
                <a:ea typeface="Source Han Serif SC"/>
                <a:cs typeface="Source Han Serif SC"/>
              </a:rPr>
              <a:t>三个市场</a:t>
            </a:r>
          </a:p>
        </p:txBody>
      </p:sp>
      <p:sp>
        <p:nvSpPr>
          <p:cNvPr id="3" name="pageno"/>
          <p:cNvSpPr txBox="1"/>
          <p:nvPr/>
        </p:nvSpPr>
        <p:spPr>
          <a:xfrm>
            <a:off x="11315700" y="342900"/>
            <a:ext cx="419100" cy="2667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ts val="1215"/>
              </a:lnSpc>
            </a:pPr>
            <a:r>
              <a:rPr sz="900" b="0" i="0">
                <a:solidFill>
                  <a:srgbClr val="8A8984"/>
                </a:solidFill>
                <a:latin typeface="Georgia"/>
                <a:ea typeface="Source Han Serif SC"/>
                <a:cs typeface="Source Han Serif SC"/>
              </a:rPr>
              <a:t>2</a:t>
            </a:r>
          </a:p>
        </p:txBody>
      </p:sp>
      <p:sp>
        <p:nvSpPr>
          <p:cNvPr id="4" name="s02_claim"/>
          <p:cNvSpPr txBox="1"/>
          <p:nvPr/>
        </p:nvSpPr>
        <p:spPr>
          <a:xfrm>
            <a:off x="457200" y="914400"/>
            <a:ext cx="7239000" cy="10287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42"/>
              </a:lnSpc>
            </a:pPr>
            <a:r>
              <a:rPr sz="2550" b="1" i="0">
                <a:solidFill>
                  <a:srgbClr val="12120F"/>
                </a:solidFill>
                <a:latin typeface="Source Han Serif SC"/>
                <a:ea typeface="Source Han Serif SC"/>
                <a:cs typeface="Source Han Serif SC"/>
              </a:rPr>
              <a:t>三个市场里只有印尼跑通了单位经济，</a:t>
            </a:r>
          </a:p>
          <a:p>
            <a:pPr algn="l">
              <a:lnSpc>
                <a:spcPts val="3442"/>
              </a:lnSpc>
            </a:pPr>
            <a:r>
              <a:rPr sz="2550" b="1" i="0">
                <a:solidFill>
                  <a:srgbClr val="12120F"/>
                </a:solidFill>
                <a:latin typeface="Source Han Serif SC"/>
                <a:ea typeface="Source Han Serif SC"/>
                <a:cs typeface="Source Han Serif SC"/>
              </a:rPr>
              <a:t>而且是靠自营履约跑通的</a:t>
            </a:r>
          </a:p>
        </p:txBody>
      </p:sp>
      <p:graphicFrame>
        <p:nvGraphicFramePr>
          <p:cNvPr id="5" name="s02_chart"/>
          <p:cNvGraphicFramePr>
            <a:graphicFrameLocks noGrp="1"/>
          </p:cNvGraphicFramePr>
          <p:nvPr/>
        </p:nvGraphicFramePr>
        <p:xfrm>
          <a:off x="457200" y="2362200"/>
          <a:ext cx="685800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02_kpi"/>
          <p:cNvSpPr txBox="1"/>
          <p:nvPr/>
        </p:nvSpPr>
        <p:spPr>
          <a:xfrm>
            <a:off x="7848600" y="2362200"/>
            <a:ext cx="381000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6480"/>
              </a:lnSpc>
            </a:pPr>
            <a:r>
              <a:rPr sz="4800" b="1" i="0">
                <a:solidFill>
                  <a:srgbClr val="6E6A63"/>
                </a:solidFill>
                <a:latin typeface="Georgia"/>
                <a:ea typeface="Source Han Serif SC"/>
                <a:cs typeface="Source Han Serif SC"/>
              </a:rPr>
              <a:t>11.2 </a:t>
            </a:r>
            <a:r>
              <a:rPr sz="4800" b="1" i="0">
                <a:solidFill>
                  <a:srgbClr val="6E6A63"/>
                </a:solidFill>
                <a:latin typeface="Source Han Serif SC"/>
                <a:ea typeface="Source Han Serif SC"/>
                <a:cs typeface="Source Han Serif SC"/>
              </a:rPr>
              <a:t>元</a:t>
            </a:r>
          </a:p>
        </p:txBody>
      </p:sp>
      <p:sp>
        <p:nvSpPr>
          <p:cNvPr id="7" name="s02_kpi_note"/>
          <p:cNvSpPr txBox="1"/>
          <p:nvPr/>
        </p:nvSpPr>
        <p:spPr>
          <a:xfrm>
            <a:off x="7848600" y="3352800"/>
            <a:ext cx="3810000" cy="11430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>
                <a:solidFill>
                  <a:srgbClr val="12120F"/>
                </a:solidFill>
                <a:latin typeface="Source Han Serif SC"/>
                <a:ea typeface="Source Han Serif SC"/>
                <a:cs typeface="Source Han Serif SC"/>
              </a:rPr>
              <a:t>单均履约成本</a:t>
            </a:r>
            <a:r>
              <a:rPr sz="1125" b="0" i="0">
                <a:solidFill>
                  <a:srgbClr val="12120F"/>
                </a:solidFill>
                <a:latin typeface="Georgia"/>
                <a:ea typeface="Source Han Serif SC"/>
                <a:cs typeface="Source Han Serif SC"/>
              </a:rPr>
              <a:t> 19.4 </a:t>
            </a:r>
            <a:r>
              <a:rPr sz="1125" b="0" i="0">
                <a:solidFill>
                  <a:srgbClr val="12120F"/>
                </a:solidFill>
                <a:latin typeface="Source Han Serif SC"/>
                <a:ea typeface="Source Han Serif SC"/>
                <a:cs typeface="Source Han Serif SC"/>
              </a:rPr>
              <a:t>元</a:t>
            </a:r>
            <a:r>
              <a:rPr sz="1125" b="0" i="0">
                <a:solidFill>
                  <a:srgbClr val="12120F"/>
                </a:solidFill>
                <a:latin typeface="Georgia"/>
                <a:ea typeface="Source Han Serif SC"/>
                <a:cs typeface="Source Han Serif SC"/>
              </a:rPr>
              <a:t> → 11.2 </a:t>
            </a:r>
            <a:r>
              <a:rPr sz="1125" b="0" i="0">
                <a:solidFill>
                  <a:srgbClr val="12120F"/>
                </a:solidFill>
                <a:latin typeface="Source Han Serif SC"/>
                <a:ea typeface="Source Han Serif SC"/>
                <a:cs typeface="Source Han Serif SC"/>
              </a:rPr>
              <a:t>元，降幅</a:t>
            </a:r>
            <a:r>
              <a:rPr sz="1125" b="0" i="0">
                <a:solidFill>
                  <a:srgbClr val="12120F"/>
                </a:solidFill>
                <a:latin typeface="Georgia"/>
                <a:ea typeface="Source Han Serif SC"/>
                <a:cs typeface="Source Han Serif SC"/>
              </a:rPr>
              <a:t> 42.3%</a:t>
            </a:r>
            <a:r>
              <a:rPr sz="1125" b="0" i="0">
                <a:solidFill>
                  <a:srgbClr val="12120F"/>
                </a:solidFill>
                <a:latin typeface="Source Han Serif SC"/>
                <a:ea typeface="Source Han Serif SC"/>
                <a:cs typeface="Source Han Serif SC"/>
              </a:rPr>
              <a:t>；</a:t>
            </a:r>
          </a:p>
          <a:p>
            <a:pPr algn="l">
              <a:lnSpc>
                <a:spcPts val="1687"/>
              </a:lnSpc>
            </a:pPr>
            <a:r>
              <a:rPr sz="1125" b="0" i="0">
                <a:solidFill>
                  <a:srgbClr val="12120F"/>
                </a:solidFill>
                <a:latin typeface="Source Han Serif SC"/>
                <a:ea typeface="Source Han Serif SC"/>
                <a:cs typeface="Source Han Serif SC"/>
              </a:rPr>
              <a:t>同期客单价</a:t>
            </a:r>
            <a:r>
              <a:rPr sz="1125" b="0" i="0">
                <a:solidFill>
                  <a:srgbClr val="12120F"/>
                </a:solidFill>
                <a:latin typeface="Georgia"/>
                <a:ea typeface="Source Han Serif SC"/>
                <a:cs typeface="Source Han Serif SC"/>
              </a:rPr>
              <a:t> 68 </a:t>
            </a:r>
            <a:r>
              <a:rPr sz="1125" b="0" i="0">
                <a:solidFill>
                  <a:srgbClr val="12120F"/>
                </a:solidFill>
                <a:latin typeface="Source Han Serif SC"/>
                <a:ea typeface="Source Han Serif SC"/>
                <a:cs typeface="Source Han Serif SC"/>
              </a:rPr>
              <a:t>元升至</a:t>
            </a:r>
            <a:r>
              <a:rPr sz="1125" b="0" i="0">
                <a:solidFill>
                  <a:srgbClr val="12120F"/>
                </a:solidFill>
                <a:latin typeface="Georgia"/>
                <a:ea typeface="Source Han Serif SC"/>
                <a:cs typeface="Source Han Serif SC"/>
              </a:rPr>
              <a:t> 83 </a:t>
            </a:r>
            <a:r>
              <a:rPr sz="1125" b="0" i="0">
                <a:solidFill>
                  <a:srgbClr val="12120F"/>
                </a:solidFill>
                <a:latin typeface="Source Han Serif SC"/>
                <a:ea typeface="Source Han Serif SC"/>
                <a:cs typeface="Source Han Serif SC"/>
              </a:rPr>
              <a:t>元。</a:t>
            </a:r>
          </a:p>
          <a:p>
            <a:pPr algn="l">
              <a:lnSpc>
                <a:spcPts val="1687"/>
              </a:lnSpc>
            </a:pPr>
            <a:r>
              <a:rPr sz="1125" b="0" i="0">
                <a:solidFill>
                  <a:srgbClr val="12120F"/>
                </a:solidFill>
                <a:latin typeface="Source Han Serif SC"/>
                <a:ea typeface="Source Han Serif SC"/>
                <a:cs typeface="Source Han Serif SC"/>
              </a:rPr>
              <a:t>泰国曼谷加盟</a:t>
            </a:r>
            <a:r>
              <a:rPr sz="1125" b="0" i="0">
                <a:solidFill>
                  <a:srgbClr val="12120F"/>
                </a:solidFill>
                <a:latin typeface="Georgia"/>
                <a:ea typeface="Source Han Serif SC"/>
                <a:cs typeface="Source Han Serif SC"/>
              </a:rPr>
              <a:t> 16.8 </a:t>
            </a:r>
            <a:r>
              <a:rPr sz="1125" b="0" i="0">
                <a:solidFill>
                  <a:srgbClr val="12120F"/>
                </a:solidFill>
                <a:latin typeface="Source Han Serif SC"/>
                <a:ea typeface="Source Han Serif SC"/>
                <a:cs typeface="Source Han Serif SC"/>
              </a:rPr>
              <a:t>元</a:t>
            </a:r>
            <a:r>
              <a:rPr sz="1125" b="0" i="0">
                <a:solidFill>
                  <a:srgbClr val="12120F"/>
                </a:solidFill>
                <a:latin typeface="Georgia"/>
                <a:ea typeface="Source Han Serif SC"/>
                <a:cs typeface="Source Han Serif SC"/>
              </a:rPr>
              <a:t> · </a:t>
            </a:r>
            <a:r>
              <a:rPr sz="1125" b="0" i="0">
                <a:solidFill>
                  <a:srgbClr val="12120F"/>
                </a:solidFill>
                <a:latin typeface="Source Han Serif SC"/>
                <a:ea typeface="Source Han Serif SC"/>
                <a:cs typeface="Source Han Serif SC"/>
              </a:rPr>
              <a:t>越南胡志明</a:t>
            </a:r>
            <a:r>
              <a:rPr sz="1125" b="0" i="0">
                <a:solidFill>
                  <a:srgbClr val="12120F"/>
                </a:solidFill>
                <a:latin typeface="Georgia"/>
                <a:ea typeface="Source Han Serif SC"/>
                <a:cs typeface="Source Han Serif SC"/>
              </a:rPr>
              <a:t> 14.5 </a:t>
            </a:r>
            <a:r>
              <a:rPr sz="1125" b="0" i="0">
                <a:solidFill>
                  <a:srgbClr val="12120F"/>
                </a:solidFill>
                <a:latin typeface="Source Han Serif SC"/>
                <a:ea typeface="Source Han Serif SC"/>
                <a:cs typeface="Source Han Serif SC"/>
              </a:rPr>
              <a:t>元</a:t>
            </a:r>
          </a:p>
        </p:txBody>
      </p:sp>
      <p:sp>
        <p:nvSpPr>
          <p:cNvPr id="8" name="src"/>
          <p:cNvSpPr txBox="1"/>
          <p:nvPr/>
        </p:nvSpPr>
        <p:spPr>
          <a:xfrm>
            <a:off x="457200" y="6400800"/>
            <a:ext cx="11277600" cy="2667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13"/>
              </a:lnSpc>
            </a:pPr>
            <a:r>
              <a:rPr sz="825" b="0" i="0">
                <a:solidFill>
                  <a:srgbClr val="8A8984"/>
                </a:solidFill>
                <a:latin typeface="Source Han Serif SC"/>
                <a:ea typeface="Source Han Serif SC"/>
                <a:cs typeface="Source Han Serif SC"/>
              </a:rPr>
              <a:t>来源：三国仓配台账</a:t>
            </a:r>
            <a:r>
              <a:rPr sz="825" b="0" i="0">
                <a:solidFill>
                  <a:srgbClr val="8A8984"/>
                </a:solidFill>
                <a:latin typeface="Georgia"/>
                <a:ea typeface="Source Han Serif SC"/>
                <a:cs typeface="Source Han Serif SC"/>
              </a:rPr>
              <a:t> · </a:t>
            </a:r>
            <a:r>
              <a:rPr sz="825" b="0" i="0">
                <a:solidFill>
                  <a:srgbClr val="8A8984"/>
                </a:solidFill>
                <a:latin typeface="Source Han Serif SC"/>
                <a:ea typeface="Source Han Serif SC"/>
                <a:cs typeface="Source Han Serif SC"/>
              </a:rPr>
              <a:t>口径：自营仓单均履约成本，含干线与末端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457200" y="342900"/>
            <a:ext cx="3048000" cy="2667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1417"/>
              </a:lnSpc>
            </a:pPr>
            <a:r>
              <a:rPr sz="1050" b="0" i="0">
                <a:solidFill>
                  <a:srgbClr val="8A8984"/>
                </a:solidFill>
                <a:latin typeface="Source Han Serif SC"/>
                <a:ea typeface="Source Han Serif SC"/>
                <a:cs typeface="Source Han Serif SC"/>
              </a:rPr>
              <a:t>维护周期</a:t>
            </a:r>
          </a:p>
        </p:txBody>
      </p:sp>
      <p:sp>
        <p:nvSpPr>
          <p:cNvPr id="3" name="pageno"/>
          <p:cNvSpPr txBox="1"/>
          <p:nvPr/>
        </p:nvSpPr>
        <p:spPr>
          <a:xfrm>
            <a:off x="11315700" y="342900"/>
            <a:ext cx="419100" cy="2667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ts val="1215"/>
              </a:lnSpc>
            </a:pPr>
            <a:r>
              <a:rPr sz="900" b="0" i="0">
                <a:solidFill>
                  <a:srgbClr val="8A8984"/>
                </a:solidFill>
                <a:latin typeface="Georgia"/>
                <a:ea typeface="Source Han Serif SC"/>
                <a:cs typeface="Source Han Serif SC"/>
              </a:rPr>
              <a:t>3</a:t>
            </a:r>
          </a:p>
        </p:txBody>
      </p:sp>
      <p:sp>
        <p:nvSpPr>
          <p:cNvPr id="4" name="s03_claim"/>
          <p:cNvSpPr txBox="1"/>
          <p:nvPr/>
        </p:nvSpPr>
        <p:spPr>
          <a:xfrm>
            <a:off x="457200" y="914400"/>
            <a:ext cx="6858000" cy="5715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42"/>
              </a:lnSpc>
            </a:pPr>
            <a:r>
              <a:rPr sz="2550" b="1" i="0">
                <a:solidFill>
                  <a:srgbClr val="12120F"/>
                </a:solidFill>
                <a:latin typeface="Source Han Serif SC"/>
                <a:ea typeface="Source Han Serif SC"/>
                <a:cs typeface="Source Han Serif SC"/>
              </a:rPr>
              <a:t>维护周期由</a:t>
            </a:r>
            <a:r>
              <a:rPr sz="2550" b="1" i="0">
                <a:solidFill>
                  <a:srgbClr val="12120F"/>
                </a:solidFill>
                <a:latin typeface="Georgia"/>
                <a:ea typeface="Source Han Serif SC"/>
                <a:cs typeface="Source Han Serif SC"/>
              </a:rPr>
              <a:t> 19 </a:t>
            </a:r>
            <a:r>
              <a:rPr sz="2550" b="1" i="0">
                <a:solidFill>
                  <a:srgbClr val="12120F"/>
                </a:solidFill>
                <a:latin typeface="Source Han Serif SC"/>
                <a:ea typeface="Source Han Serif SC"/>
                <a:cs typeface="Source Han Serif SC"/>
              </a:rPr>
              <a:t>个月缩至</a:t>
            </a:r>
            <a:r>
              <a:rPr sz="2550" b="1" i="0">
                <a:solidFill>
                  <a:srgbClr val="12120F"/>
                </a:solidFill>
                <a:latin typeface="Georgia"/>
                <a:ea typeface="Source Han Serif SC"/>
                <a:cs typeface="Source Han Serif SC"/>
              </a:rPr>
              <a:t> 11 </a:t>
            </a:r>
            <a:r>
              <a:rPr sz="2550" b="1" i="0">
                <a:solidFill>
                  <a:srgbClr val="12120F"/>
                </a:solidFill>
                <a:latin typeface="Source Han Serif SC"/>
                <a:ea typeface="Source Han Serif SC"/>
                <a:cs typeface="Source Han Serif SC"/>
              </a:rPr>
              <a:t>个月</a:t>
            </a:r>
          </a:p>
        </p:txBody>
      </p:sp>
      <p:graphicFrame>
        <p:nvGraphicFramePr>
          <p:cNvPr id="5" name="s03_chart"/>
          <p:cNvGraphicFramePr>
            <a:graphicFrameLocks noGrp="1"/>
          </p:cNvGraphicFramePr>
          <p:nvPr/>
        </p:nvGraphicFramePr>
        <p:xfrm>
          <a:off x="457200" y="2057400"/>
          <a:ext cx="6667500" cy="3619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03_side"/>
          <p:cNvSpPr txBox="1"/>
          <p:nvPr/>
        </p:nvSpPr>
        <p:spPr>
          <a:xfrm>
            <a:off x="7734300" y="2286000"/>
            <a:ext cx="4000500" cy="11430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>
                <a:solidFill>
                  <a:srgbClr val="12120F"/>
                </a:solidFill>
                <a:latin typeface="Source Han Serif SC"/>
                <a:ea typeface="Source Han Serif SC"/>
                <a:cs typeface="Source Han Serif SC"/>
              </a:rPr>
              <a:t>同期单仓月均处理件数</a:t>
            </a:r>
          </a:p>
          <a:p>
            <a:pPr algn="l">
              <a:lnSpc>
                <a:spcPts val="2475"/>
              </a:lnSpc>
            </a:pPr>
            <a:r>
              <a:rPr sz="1650" b="0" i="0">
                <a:solidFill>
                  <a:srgbClr val="12120F"/>
                </a:solidFill>
                <a:latin typeface="Source Han Serif SC"/>
                <a:ea typeface="Source Han Serif SC"/>
                <a:cs typeface="Source Han Serif SC"/>
              </a:rPr>
              <a:t>由</a:t>
            </a:r>
            <a:r>
              <a:rPr sz="1650" b="0" i="0">
                <a:solidFill>
                  <a:srgbClr val="12120F"/>
                </a:solidFill>
                <a:latin typeface="Georgia"/>
                <a:ea typeface="Source Han Serif SC"/>
                <a:cs typeface="Source Han Serif SC"/>
              </a:rPr>
              <a:t> 42 </a:t>
            </a:r>
            <a:r>
              <a:rPr sz="1650" b="0" i="0">
                <a:solidFill>
                  <a:srgbClr val="12120F"/>
                </a:solidFill>
                <a:latin typeface="Source Han Serif SC"/>
                <a:ea typeface="Source Han Serif SC"/>
                <a:cs typeface="Source Han Serif SC"/>
              </a:rPr>
              <a:t>万件升至</a:t>
            </a:r>
            <a:r>
              <a:rPr sz="1650" b="0" i="0">
                <a:solidFill>
                  <a:srgbClr val="12120F"/>
                </a:solidFill>
                <a:latin typeface="Georgia"/>
                <a:ea typeface="Source Han Serif SC"/>
                <a:cs typeface="Source Han Serif SC"/>
              </a:rPr>
              <a:t> 61 </a:t>
            </a:r>
            <a:r>
              <a:rPr sz="1650" b="0" i="0">
                <a:solidFill>
                  <a:srgbClr val="12120F"/>
                </a:solidFill>
                <a:latin typeface="Source Han Serif SC"/>
                <a:ea typeface="Source Han Serif SC"/>
                <a:cs typeface="Source Han Serif SC"/>
              </a:rPr>
              <a:t>万件</a:t>
            </a:r>
          </a:p>
        </p:txBody>
      </p:sp>
      <p:sp>
        <p:nvSpPr>
          <p:cNvPr id="7" name="s03_note"/>
          <p:cNvSpPr txBox="1"/>
          <p:nvPr/>
        </p:nvSpPr>
        <p:spPr>
          <a:xfrm>
            <a:off x="7734300" y="3733800"/>
            <a:ext cx="4000500" cy="7620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>
                <a:solidFill>
                  <a:srgbClr val="8A8984"/>
                </a:solidFill>
                <a:latin typeface="Source Han Serif SC"/>
                <a:ea typeface="Source Han Serif SC"/>
                <a:cs typeface="Source Han Serif SC"/>
              </a:rPr>
              <a:t>周期缩短与处理量上升同时发生：</a:t>
            </a:r>
          </a:p>
          <a:p>
            <a:pPr algn="l">
              <a:lnSpc>
                <a:spcPts val="1687"/>
              </a:lnSpc>
            </a:pPr>
            <a:r>
              <a:rPr sz="1125" b="0" i="0">
                <a:solidFill>
                  <a:srgbClr val="8A8984"/>
                </a:solidFill>
                <a:latin typeface="Source Han Serif SC"/>
                <a:ea typeface="Source Han Serif SC"/>
                <a:cs typeface="Source Han Serif SC"/>
              </a:rPr>
              <a:t>不是以停机换来的数字。</a:t>
            </a:r>
          </a:p>
        </p:txBody>
      </p:sp>
      <p:sp>
        <p:nvSpPr>
          <p:cNvPr id="8" name="src"/>
          <p:cNvSpPr txBox="1"/>
          <p:nvPr/>
        </p:nvSpPr>
        <p:spPr>
          <a:xfrm>
            <a:off x="457200" y="6400800"/>
            <a:ext cx="11277600" cy="2667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13"/>
              </a:lnSpc>
            </a:pPr>
            <a:r>
              <a:rPr sz="825" b="0" i="0">
                <a:solidFill>
                  <a:srgbClr val="8A8984"/>
                </a:solidFill>
                <a:latin typeface="Source Han Serif SC"/>
                <a:ea typeface="Source Han Serif SC"/>
                <a:cs typeface="Source Han Serif SC"/>
              </a:rPr>
              <a:t>来源：设备维护台账</a:t>
            </a:r>
            <a:r>
              <a:rPr sz="825" b="0" i="0">
                <a:solidFill>
                  <a:srgbClr val="8A8984"/>
                </a:solidFill>
                <a:latin typeface="Georgia"/>
                <a:ea typeface="Source Han Serif SC"/>
                <a:cs typeface="Source Han Serif SC"/>
              </a:rPr>
              <a:t> · </a:t>
            </a:r>
            <a:r>
              <a:rPr sz="825" b="0" i="0">
                <a:solidFill>
                  <a:srgbClr val="8A8984"/>
                </a:solidFill>
                <a:latin typeface="Source Han Serif SC"/>
                <a:ea typeface="Source Han Serif SC"/>
                <a:cs typeface="Source Han Serif SC"/>
              </a:rPr>
              <a:t>期间：</a:t>
            </a:r>
            <a:r>
              <a:rPr sz="825" b="0" i="0">
                <a:solidFill>
                  <a:srgbClr val="8A8984"/>
                </a:solidFill>
                <a:latin typeface="Georgia"/>
                <a:ea typeface="Source Han Serif SC"/>
                <a:cs typeface="Source Han Serif SC"/>
              </a:rPr>
              <a:t> 2024 </a:t>
            </a:r>
            <a:r>
              <a:rPr sz="825" b="0" i="0">
                <a:solidFill>
                  <a:srgbClr val="8A8984"/>
                </a:solidFill>
                <a:latin typeface="Source Han Serif SC"/>
                <a:ea typeface="Source Han Serif SC"/>
                <a:cs typeface="Source Han Serif SC"/>
              </a:rPr>
              <a:t>年</a:t>
            </a:r>
            <a:r>
              <a:rPr sz="825" b="0" i="0">
                <a:solidFill>
                  <a:srgbClr val="8A8984"/>
                </a:solidFill>
                <a:latin typeface="Georgia"/>
                <a:ea typeface="Source Han Serif SC"/>
                <a:cs typeface="Source Han Serif SC"/>
              </a:rPr>
              <a:t>—2026 </a:t>
            </a:r>
            <a:r>
              <a:rPr sz="825" b="0" i="0">
                <a:solidFill>
                  <a:srgbClr val="8A8984"/>
                </a:solidFill>
                <a:latin typeface="Source Han Serif SC"/>
                <a:ea typeface="Source Han Serif SC"/>
                <a:cs typeface="Source Han Serif SC"/>
              </a:rPr>
              <a:t>年上半年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457200" y="342900"/>
            <a:ext cx="3048000" cy="2667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1417"/>
              </a:lnSpc>
            </a:pPr>
            <a:r>
              <a:rPr sz="1050" b="0" i="0">
                <a:solidFill>
                  <a:srgbClr val="8A8984"/>
                </a:solidFill>
                <a:latin typeface="Source Han Serif SC"/>
                <a:ea typeface="Source Han Serif SC"/>
                <a:cs typeface="Source Han Serif SC"/>
              </a:rPr>
              <a:t>清关时效</a:t>
            </a:r>
          </a:p>
        </p:txBody>
      </p:sp>
      <p:sp>
        <p:nvSpPr>
          <p:cNvPr id="3" name="pageno"/>
          <p:cNvSpPr txBox="1"/>
          <p:nvPr/>
        </p:nvSpPr>
        <p:spPr>
          <a:xfrm>
            <a:off x="11315700" y="342900"/>
            <a:ext cx="419100" cy="2667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ts val="1215"/>
              </a:lnSpc>
            </a:pPr>
            <a:r>
              <a:rPr sz="900" b="0" i="0">
                <a:solidFill>
                  <a:srgbClr val="8A8984"/>
                </a:solidFill>
                <a:latin typeface="Georgia"/>
                <a:ea typeface="Source Han Serif SC"/>
                <a:cs typeface="Source Han Serif SC"/>
              </a:rPr>
              <a:t>4</a:t>
            </a:r>
          </a:p>
        </p:txBody>
      </p:sp>
      <p:sp>
        <p:nvSpPr>
          <p:cNvPr id="4" name="s04_claim"/>
          <p:cNvSpPr txBox="1"/>
          <p:nvPr/>
        </p:nvSpPr>
        <p:spPr>
          <a:xfrm>
            <a:off x="457200" y="1143000"/>
            <a:ext cx="6858000" cy="11430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050"/>
              </a:lnSpc>
            </a:pPr>
            <a:r>
              <a:rPr sz="3000" b="1" i="0">
                <a:solidFill>
                  <a:srgbClr val="12120F"/>
                </a:solidFill>
                <a:latin typeface="Source Han Serif SC"/>
                <a:ea typeface="Source Han Serif SC"/>
                <a:cs typeface="Source Han Serif SC"/>
              </a:rPr>
              <a:t>清关时效在越南与印尼不同</a:t>
            </a:r>
          </a:p>
        </p:txBody>
      </p:sp>
      <p:sp>
        <p:nvSpPr>
          <p:cNvPr id="5" name="s04_vn"/>
          <p:cNvSpPr txBox="1"/>
          <p:nvPr/>
        </p:nvSpPr>
        <p:spPr>
          <a:xfrm>
            <a:off x="457200" y="2971800"/>
            <a:ext cx="2857500" cy="11430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150"/>
              </a:lnSpc>
            </a:pPr>
            <a:r>
              <a:rPr sz="2250" b="0" i="0">
                <a:solidFill>
                  <a:srgbClr val="12120F"/>
                </a:solidFill>
                <a:latin typeface="Source Han Serif SC"/>
                <a:ea typeface="Source Han Serif SC"/>
                <a:cs typeface="Source Han Serif SC"/>
              </a:rPr>
              <a:t>越南</a:t>
            </a:r>
          </a:p>
          <a:p>
            <a:pPr algn="l">
              <a:lnSpc>
                <a:spcPts val="3150"/>
              </a:lnSpc>
            </a:pPr>
            <a:r>
              <a:rPr sz="2250" b="0" i="0">
                <a:solidFill>
                  <a:srgbClr val="12120F"/>
                </a:solidFill>
                <a:latin typeface="Georgia"/>
                <a:ea typeface="Source Han Serif SC"/>
                <a:cs typeface="Source Han Serif SC"/>
              </a:rPr>
              <a:t>1.8 </a:t>
            </a:r>
            <a:r>
              <a:rPr sz="2250" b="0" i="0">
                <a:solidFill>
                  <a:srgbClr val="12120F"/>
                </a:solidFill>
                <a:latin typeface="Source Han Serif SC"/>
                <a:ea typeface="Source Han Serif SC"/>
                <a:cs typeface="Source Han Serif SC"/>
              </a:rPr>
              <a:t>天</a:t>
            </a:r>
          </a:p>
        </p:txBody>
      </p:sp>
      <p:sp>
        <p:nvSpPr>
          <p:cNvPr id="6" name="s04_idn"/>
          <p:cNvSpPr txBox="1"/>
          <p:nvPr/>
        </p:nvSpPr>
        <p:spPr>
          <a:xfrm>
            <a:off x="457200" y="4343400"/>
            <a:ext cx="2857500" cy="11430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150"/>
              </a:lnSpc>
            </a:pPr>
            <a:r>
              <a:rPr sz="2250" b="0" i="0">
                <a:solidFill>
                  <a:srgbClr val="12120F"/>
                </a:solidFill>
                <a:latin typeface="Source Han Serif SC"/>
                <a:ea typeface="Source Han Serif SC"/>
                <a:cs typeface="Source Han Serif SC"/>
              </a:rPr>
              <a:t>印尼</a:t>
            </a:r>
          </a:p>
          <a:p>
            <a:pPr algn="l">
              <a:lnSpc>
                <a:spcPts val="3150"/>
              </a:lnSpc>
            </a:pPr>
            <a:r>
              <a:rPr sz="2250" b="0" i="0">
                <a:solidFill>
                  <a:srgbClr val="12120F"/>
                </a:solidFill>
                <a:latin typeface="Georgia"/>
                <a:ea typeface="Source Han Serif SC"/>
                <a:cs typeface="Source Han Serif SC"/>
              </a:rPr>
              <a:t>6.4 </a:t>
            </a:r>
            <a:r>
              <a:rPr sz="2250" b="0" i="0">
                <a:solidFill>
                  <a:srgbClr val="12120F"/>
                </a:solidFill>
                <a:latin typeface="Source Han Serif SC"/>
                <a:ea typeface="Source Han Serif SC"/>
                <a:cs typeface="Source Han Serif SC"/>
              </a:rPr>
              <a:t>天</a:t>
            </a:r>
          </a:p>
        </p:txBody>
      </p:sp>
      <p:cxnSp>
        <p:nvCxnSpPr>
          <p:cNvPr id="7" name="s04_axis"/>
          <p:cNvCxnSpPr/>
          <p:nvPr/>
        </p:nvCxnSpPr>
        <p:spPr>
          <a:xfrm>
            <a:off x="457200" y="4110038"/>
            <a:ext cx="2857500" cy="9524"/>
          </a:xfrm>
          <a:prstGeom prst="line">
            <a:avLst/>
          </a:prstGeom>
          <a:ln w="9525">
            <a:solidFill>
              <a:srgbClr val="8A898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04_why"/>
          <p:cNvSpPr txBox="1"/>
          <p:nvPr/>
        </p:nvSpPr>
        <p:spPr>
          <a:xfrm>
            <a:off x="4191000" y="2971800"/>
            <a:ext cx="4000500" cy="11430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>
                <a:solidFill>
                  <a:srgbClr val="12120F"/>
                </a:solidFill>
                <a:latin typeface="Source Han Serif SC"/>
                <a:ea typeface="Source Han Serif SC"/>
                <a:cs typeface="Source Han Serif SC"/>
              </a:rPr>
              <a:t>差异主要来自口岸流程</a:t>
            </a:r>
          </a:p>
        </p:txBody>
      </p:sp>
      <p:sp>
        <p:nvSpPr>
          <p:cNvPr id="9" name="s04_range"/>
          <p:cNvSpPr txBox="1"/>
          <p:nvPr/>
        </p:nvSpPr>
        <p:spPr>
          <a:xfrm>
            <a:off x="4191000" y="4343400"/>
            <a:ext cx="5334000" cy="7620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20"/>
              </a:lnSpc>
            </a:pPr>
            <a:r>
              <a:rPr sz="1200" b="0" i="0">
                <a:solidFill>
                  <a:srgbClr val="8A8984"/>
                </a:solidFill>
                <a:latin typeface="Source Han Serif SC"/>
                <a:ea typeface="Source Han Serif SC"/>
                <a:cs typeface="Source Han Serif SC"/>
              </a:rPr>
              <a:t>库存周转天数在</a:t>
            </a:r>
            <a:r>
              <a:rPr sz="1200" b="0" i="0">
                <a:solidFill>
                  <a:srgbClr val="8A8984"/>
                </a:solidFill>
                <a:latin typeface="Georgia"/>
                <a:ea typeface="Source Han Serif SC"/>
                <a:cs typeface="Source Han Serif SC"/>
              </a:rPr>
              <a:t> 21 </a:t>
            </a:r>
            <a:r>
              <a:rPr sz="1200" b="0" i="0">
                <a:solidFill>
                  <a:srgbClr val="8A8984"/>
                </a:solidFill>
                <a:latin typeface="Source Han Serif SC"/>
                <a:ea typeface="Source Han Serif SC"/>
                <a:cs typeface="Source Han Serif SC"/>
              </a:rPr>
              <a:t>至</a:t>
            </a:r>
            <a:r>
              <a:rPr sz="1200" b="0" i="0">
                <a:solidFill>
                  <a:srgbClr val="8A8984"/>
                </a:solidFill>
                <a:latin typeface="Georgia"/>
                <a:ea typeface="Source Han Serif SC"/>
                <a:cs typeface="Source Han Serif SC"/>
              </a:rPr>
              <a:t> 47 </a:t>
            </a:r>
            <a:r>
              <a:rPr sz="1200" b="0" i="0">
                <a:solidFill>
                  <a:srgbClr val="8A8984"/>
                </a:solidFill>
                <a:latin typeface="Source Han Serif SC"/>
                <a:ea typeface="Source Han Serif SC"/>
                <a:cs typeface="Source Han Serif SC"/>
              </a:rPr>
              <a:t>天之间摆动</a:t>
            </a:r>
          </a:p>
        </p:txBody>
      </p:sp>
      <p:sp>
        <p:nvSpPr>
          <p:cNvPr id="10" name="src"/>
          <p:cNvSpPr txBox="1"/>
          <p:nvPr/>
        </p:nvSpPr>
        <p:spPr>
          <a:xfrm>
            <a:off x="457200" y="6400800"/>
            <a:ext cx="11277600" cy="2667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13"/>
              </a:lnSpc>
            </a:pPr>
            <a:r>
              <a:rPr sz="825" b="0" i="0">
                <a:solidFill>
                  <a:srgbClr val="8A8984"/>
                </a:solidFill>
                <a:latin typeface="Source Han Serif SC"/>
                <a:ea typeface="Source Han Serif SC"/>
                <a:cs typeface="Source Han Serif SC"/>
              </a:rPr>
              <a:t>来源：口岸记录与库存台账</a:t>
            </a:r>
            <a:r>
              <a:rPr sz="825" b="0" i="0">
                <a:solidFill>
                  <a:srgbClr val="8A8984"/>
                </a:solidFill>
                <a:latin typeface="Georgia"/>
                <a:ea typeface="Source Han Serif SC"/>
                <a:cs typeface="Source Han Serif SC"/>
              </a:rPr>
              <a:t> · </a:t>
            </a:r>
            <a:r>
              <a:rPr sz="825" b="0" i="0">
                <a:solidFill>
                  <a:srgbClr val="8A8984"/>
                </a:solidFill>
                <a:latin typeface="Source Han Serif SC"/>
                <a:ea typeface="Source Han Serif SC"/>
                <a:cs typeface="Source Han Serif SC"/>
              </a:rPr>
              <a:t>期间：</a:t>
            </a:r>
            <a:r>
              <a:rPr sz="825" b="0" i="0">
                <a:solidFill>
                  <a:srgbClr val="8A8984"/>
                </a:solidFill>
                <a:latin typeface="Georgia"/>
                <a:ea typeface="Source Han Serif SC"/>
                <a:cs typeface="Source Han Serif SC"/>
              </a:rPr>
              <a:t> 2026 </a:t>
            </a:r>
            <a:r>
              <a:rPr sz="825" b="0" i="0">
                <a:solidFill>
                  <a:srgbClr val="8A8984"/>
                </a:solidFill>
                <a:latin typeface="Source Han Serif SC"/>
                <a:ea typeface="Source Han Serif SC"/>
                <a:cs typeface="Source Han Serif SC"/>
              </a:rPr>
              <a:t>年</a:t>
            </a:r>
            <a:r>
              <a:rPr sz="825" b="0" i="0">
                <a:solidFill>
                  <a:srgbClr val="8A8984"/>
                </a:solidFill>
                <a:latin typeface="Georgia"/>
                <a:ea typeface="Source Han Serif SC"/>
                <a:cs typeface="Source Han Serif SC"/>
              </a:rPr>
              <a:t> 1—9 </a:t>
            </a:r>
            <a:r>
              <a:rPr sz="825" b="0" i="0">
                <a:solidFill>
                  <a:srgbClr val="8A8984"/>
                </a:solidFill>
                <a:latin typeface="Source Han Serif SC"/>
                <a:ea typeface="Source Han Serif SC"/>
                <a:cs typeface="Source Han Serif SC"/>
              </a:rPr>
              <a:t>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457200" y="342900"/>
            <a:ext cx="3048000" cy="2667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1417"/>
              </a:lnSpc>
            </a:pPr>
            <a:r>
              <a:rPr sz="1050" b="0" i="0">
                <a:solidFill>
                  <a:srgbClr val="8A8984"/>
                </a:solidFill>
                <a:latin typeface="Source Han Serif SC"/>
                <a:ea typeface="Source Han Serif SC"/>
                <a:cs typeface="Source Han Serif SC"/>
              </a:rPr>
              <a:t>本轮请求</a:t>
            </a:r>
          </a:p>
        </p:txBody>
      </p:sp>
      <p:sp>
        <p:nvSpPr>
          <p:cNvPr id="3" name="pageno"/>
          <p:cNvSpPr txBox="1"/>
          <p:nvPr/>
        </p:nvSpPr>
        <p:spPr>
          <a:xfrm>
            <a:off x="11315700" y="342900"/>
            <a:ext cx="419100" cy="2667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ts val="1215"/>
              </a:lnSpc>
            </a:pPr>
            <a:r>
              <a:rPr sz="900" b="0" i="0">
                <a:solidFill>
                  <a:srgbClr val="8A8984"/>
                </a:solidFill>
                <a:latin typeface="Georgia"/>
                <a:ea typeface="Source Han Serif SC"/>
                <a:cs typeface="Source Han Serif SC"/>
              </a:rPr>
              <a:t>5</a:t>
            </a:r>
          </a:p>
        </p:txBody>
      </p:sp>
      <p:sp>
        <p:nvSpPr>
          <p:cNvPr id="4" name="s05_claim"/>
          <p:cNvSpPr txBox="1"/>
          <p:nvPr/>
        </p:nvSpPr>
        <p:spPr>
          <a:xfrm>
            <a:off x="457200" y="990600"/>
            <a:ext cx="8572500" cy="609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42"/>
              </a:lnSpc>
            </a:pPr>
            <a:r>
              <a:rPr sz="2550" b="1" i="0">
                <a:solidFill>
                  <a:srgbClr val="12120F"/>
                </a:solidFill>
                <a:latin typeface="Source Han Serif SC"/>
                <a:ea typeface="Source Han Serif SC"/>
                <a:cs typeface="Source Han Serif SC"/>
              </a:rPr>
              <a:t>先把店长培养周期压回</a:t>
            </a:r>
            <a:r>
              <a:rPr sz="2550" b="1" i="0">
                <a:solidFill>
                  <a:srgbClr val="12120F"/>
                </a:solidFill>
                <a:latin typeface="Georgia"/>
                <a:ea typeface="Source Han Serif SC"/>
                <a:cs typeface="Source Han Serif SC"/>
              </a:rPr>
              <a:t> 6 </a:t>
            </a:r>
            <a:r>
              <a:rPr sz="2550" b="1" i="0">
                <a:solidFill>
                  <a:srgbClr val="12120F"/>
                </a:solidFill>
                <a:latin typeface="Source Han Serif SC"/>
                <a:ea typeface="Source Han Serif SC"/>
                <a:cs typeface="Source Han Serif SC"/>
              </a:rPr>
              <a:t>个月，再谈第三轮扩张</a:t>
            </a:r>
          </a:p>
        </p:txBody>
      </p:sp>
      <p:sp>
        <p:nvSpPr>
          <p:cNvPr id="5" name="s05_ask"/>
          <p:cNvSpPr txBox="1"/>
          <p:nvPr/>
        </p:nvSpPr>
        <p:spPr>
          <a:xfrm>
            <a:off x="457200" y="2209800"/>
            <a:ext cx="4953000" cy="11430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265"/>
              </a:lnSpc>
            </a:pPr>
            <a:r>
              <a:rPr sz="3900" b="1" i="0">
                <a:solidFill>
                  <a:srgbClr val="6E6A63"/>
                </a:solidFill>
                <a:latin typeface="Source Han Serif SC"/>
                <a:ea typeface="Source Han Serif SC"/>
                <a:cs typeface="Source Han Serif SC"/>
              </a:rPr>
              <a:t>批准本轮</a:t>
            </a:r>
            <a:r>
              <a:rPr sz="3900" b="1" i="0">
                <a:solidFill>
                  <a:srgbClr val="6E6A63"/>
                </a:solidFill>
                <a:latin typeface="Georgia"/>
                <a:ea typeface="Source Han Serif SC"/>
                <a:cs typeface="Source Han Serif SC"/>
              </a:rPr>
              <a:t> 30 </a:t>
            </a:r>
            <a:r>
              <a:rPr sz="3900" b="1" i="0">
                <a:solidFill>
                  <a:srgbClr val="6E6A63"/>
                </a:solidFill>
                <a:latin typeface="Source Han Serif SC"/>
                <a:ea typeface="Source Han Serif SC"/>
                <a:cs typeface="Source Han Serif SC"/>
              </a:rPr>
              <a:t>家</a:t>
            </a:r>
          </a:p>
        </p:txBody>
      </p:sp>
      <p:sp>
        <p:nvSpPr>
          <p:cNvPr id="6" name="s05_ask2"/>
          <p:cNvSpPr txBox="1"/>
          <p:nvPr/>
        </p:nvSpPr>
        <p:spPr>
          <a:xfrm>
            <a:off x="457200" y="3657600"/>
            <a:ext cx="495300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835"/>
              </a:lnSpc>
            </a:pPr>
            <a:r>
              <a:rPr sz="2100" b="0" i="0">
                <a:solidFill>
                  <a:srgbClr val="12120F"/>
                </a:solidFill>
                <a:latin typeface="Source Han Serif SC"/>
                <a:ea typeface="Source Han Serif SC"/>
                <a:cs typeface="Source Han Serif SC"/>
              </a:rPr>
              <a:t>培训基地</a:t>
            </a:r>
            <a:r>
              <a:rPr sz="2100" b="0" i="0">
                <a:solidFill>
                  <a:srgbClr val="12120F"/>
                </a:solidFill>
                <a:latin typeface="Georgia"/>
                <a:ea typeface="Source Han Serif SC"/>
                <a:cs typeface="Source Han Serif SC"/>
              </a:rPr>
              <a:t> 2 </a:t>
            </a:r>
            <a:r>
              <a:rPr sz="2100" b="0" i="0">
                <a:solidFill>
                  <a:srgbClr val="12120F"/>
                </a:solidFill>
                <a:latin typeface="Source Han Serif SC"/>
                <a:ea typeface="Source Han Serif SC"/>
                <a:cs typeface="Source Han Serif SC"/>
              </a:rPr>
              <a:t>个</a:t>
            </a:r>
            <a:r>
              <a:rPr sz="2100" b="0" i="0">
                <a:solidFill>
                  <a:srgbClr val="12120F"/>
                </a:solidFill>
                <a:latin typeface="Georgia"/>
                <a:ea typeface="Source Han Serif SC"/>
                <a:cs typeface="Source Han Serif SC"/>
              </a:rPr>
              <a:t> → 3 </a:t>
            </a:r>
            <a:r>
              <a:rPr sz="2100" b="0" i="0">
                <a:solidFill>
                  <a:srgbClr val="12120F"/>
                </a:solidFill>
                <a:latin typeface="Source Han Serif SC"/>
                <a:ea typeface="Source Han Serif SC"/>
                <a:cs typeface="Source Han Serif SC"/>
              </a:rPr>
              <a:t>个</a:t>
            </a:r>
          </a:p>
        </p:txBody>
      </p:sp>
      <p:sp>
        <p:nvSpPr>
          <p:cNvPr id="7" name="s05_guard"/>
          <p:cNvSpPr txBox="1"/>
          <p:nvPr/>
        </p:nvSpPr>
        <p:spPr>
          <a:xfrm>
            <a:off x="6096000" y="2209800"/>
            <a:ext cx="5334000" cy="15240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>
                <a:solidFill>
                  <a:srgbClr val="8A8984"/>
                </a:solidFill>
                <a:latin typeface="Source Han Serif SC"/>
                <a:ea typeface="Source Han Serif SC"/>
                <a:cs typeface="Source Han Serif SC"/>
              </a:rPr>
              <a:t>若</a:t>
            </a:r>
            <a:r>
              <a:rPr sz="1500" b="0" i="0">
                <a:solidFill>
                  <a:srgbClr val="8A8984"/>
                </a:solidFill>
                <a:latin typeface="Georgia"/>
                <a:ea typeface="Source Han Serif SC"/>
                <a:cs typeface="Source Han Serif SC"/>
              </a:rPr>
              <a:t> 2027Q1 </a:t>
            </a:r>
            <a:r>
              <a:rPr sz="1500" b="0" i="0">
                <a:solidFill>
                  <a:srgbClr val="8A8984"/>
                </a:solidFill>
                <a:latin typeface="Source Han Serif SC"/>
                <a:ea typeface="Source Han Serif SC"/>
                <a:cs typeface="Source Han Serif SC"/>
              </a:rPr>
              <a:t>店长培养周期仍高于</a:t>
            </a:r>
            <a:r>
              <a:rPr sz="1500" b="0" i="0">
                <a:solidFill>
                  <a:srgbClr val="8A8984"/>
                </a:solidFill>
                <a:latin typeface="Georgia"/>
                <a:ea typeface="Source Han Serif SC"/>
                <a:cs typeface="Source Han Serif SC"/>
              </a:rPr>
              <a:t> 7 </a:t>
            </a:r>
            <a:r>
              <a:rPr sz="1500" b="0" i="0">
                <a:solidFill>
                  <a:srgbClr val="8A8984"/>
                </a:solidFill>
                <a:latin typeface="Source Han Serif SC"/>
                <a:ea typeface="Source Han Serif SC"/>
                <a:cs typeface="Source Han Serif SC"/>
              </a:rPr>
              <a:t>个月，</a:t>
            </a:r>
          </a:p>
          <a:p>
            <a:pPr algn="l">
              <a:lnSpc>
                <a:spcPts val="2400"/>
              </a:lnSpc>
            </a:pPr>
            <a:r>
              <a:rPr sz="1500" b="0" i="0">
                <a:solidFill>
                  <a:srgbClr val="8A8984"/>
                </a:solidFill>
                <a:latin typeface="Source Han Serif SC"/>
                <a:ea typeface="Source Han Serif SC"/>
                <a:cs typeface="Source Han Serif SC"/>
              </a:rPr>
              <a:t>暂停后续批次。</a:t>
            </a:r>
          </a:p>
        </p:txBody>
      </p:sp>
      <p:cxnSp>
        <p:nvCxnSpPr>
          <p:cNvPr id="8" name="s05_rule"/>
          <p:cNvCxnSpPr/>
          <p:nvPr/>
        </p:nvCxnSpPr>
        <p:spPr>
          <a:xfrm>
            <a:off x="6096000" y="2052638"/>
            <a:ext cx="5334000" cy="9524"/>
          </a:xfrm>
          <a:prstGeom prst="line">
            <a:avLst/>
          </a:prstGeom>
          <a:ln w="9525">
            <a:solidFill>
              <a:srgbClr val="8A898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rc"/>
          <p:cNvSpPr txBox="1"/>
          <p:nvPr/>
        </p:nvSpPr>
        <p:spPr>
          <a:xfrm>
            <a:off x="457200" y="6400800"/>
            <a:ext cx="11277600" cy="2667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13"/>
              </a:lnSpc>
            </a:pPr>
            <a:r>
              <a:rPr sz="825" b="0" i="0">
                <a:solidFill>
                  <a:srgbClr val="8A8984"/>
                </a:solidFill>
                <a:latin typeface="Source Han Serif SC"/>
                <a:ea typeface="Source Han Serif SC"/>
                <a:cs typeface="Source Han Serif SC"/>
              </a:rPr>
              <a:t>口径：培养周期＝入训至独立顶岗；护栏按季度复核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457200" y="342900"/>
            <a:ext cx="3048000" cy="2667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1417"/>
              </a:lnSpc>
            </a:pPr>
            <a:r>
              <a:rPr sz="1050" b="0" i="0">
                <a:solidFill>
                  <a:srgbClr val="8A8984"/>
                </a:solidFill>
                <a:latin typeface="Source Han Serif SC"/>
                <a:ea typeface="Source Han Serif SC"/>
                <a:cs typeface="Source Han Serif SC"/>
              </a:rPr>
              <a:t>买能力</a:t>
            </a:r>
          </a:p>
        </p:txBody>
      </p:sp>
      <p:sp>
        <p:nvSpPr>
          <p:cNvPr id="3" name="pageno"/>
          <p:cNvSpPr txBox="1"/>
          <p:nvPr/>
        </p:nvSpPr>
        <p:spPr>
          <a:xfrm>
            <a:off x="11315700" y="342900"/>
            <a:ext cx="419100" cy="2667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ts val="1215"/>
              </a:lnSpc>
            </a:pPr>
            <a:r>
              <a:rPr sz="900" b="0" i="0">
                <a:solidFill>
                  <a:srgbClr val="8A8984"/>
                </a:solidFill>
                <a:latin typeface="Georgia"/>
                <a:ea typeface="Source Han Serif SC"/>
                <a:cs typeface="Source Han Serif SC"/>
              </a:rPr>
              <a:t>6</a:t>
            </a:r>
          </a:p>
        </p:txBody>
      </p:sp>
      <p:sp>
        <p:nvSpPr>
          <p:cNvPr id="4" name="s06_close"/>
          <p:cNvSpPr txBox="1"/>
          <p:nvPr/>
        </p:nvSpPr>
        <p:spPr>
          <a:xfrm>
            <a:off x="1143000" y="2438400"/>
            <a:ext cx="9906000" cy="1600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459"/>
              </a:lnSpc>
            </a:pPr>
            <a:r>
              <a:rPr sz="3900" b="1" i="0">
                <a:solidFill>
                  <a:srgbClr val="12120F"/>
                </a:solidFill>
                <a:latin typeface="Source Han Serif SC"/>
                <a:ea typeface="Source Han Serif SC"/>
                <a:cs typeface="Source Han Serif SC"/>
              </a:rPr>
              <a:t>我们不是在赌市场，</a:t>
            </a:r>
          </a:p>
          <a:p>
            <a:pPr algn="l">
              <a:lnSpc>
                <a:spcPts val="5459"/>
              </a:lnSpc>
            </a:pPr>
            <a:r>
              <a:rPr sz="3900" b="1" i="0">
                <a:solidFill>
                  <a:srgbClr val="12120F"/>
                </a:solidFill>
                <a:latin typeface="Source Han Serif SC"/>
                <a:ea typeface="Source Han Serif SC"/>
                <a:cs typeface="Source Han Serif SC"/>
              </a:rPr>
              <a:t>是在买能力</a:t>
            </a:r>
          </a:p>
        </p:txBody>
      </p:sp>
      <p:sp>
        <p:nvSpPr>
          <p:cNvPr id="5" name="s06_sub"/>
          <p:cNvSpPr txBox="1"/>
          <p:nvPr/>
        </p:nvSpPr>
        <p:spPr>
          <a:xfrm>
            <a:off x="1143000" y="4152900"/>
            <a:ext cx="6858000" cy="3810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22"/>
              </a:lnSpc>
            </a:pPr>
            <a:r>
              <a:rPr sz="1350" b="0" i="0">
                <a:solidFill>
                  <a:srgbClr val="8A8984"/>
                </a:solidFill>
                <a:latin typeface="Source Han Serif SC"/>
                <a:ea typeface="Source Han Serif SC"/>
                <a:cs typeface="Source Han Serif SC"/>
              </a:rPr>
              <a:t>仓配与清关能力一旦建成，三个市场共用。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