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142C3C"/>
            </a:solidFill>
            <a:ln>
              <a:noFill/>
            </a:ln>
          </c:spPr>
          <c:dPt>
            <c:idx val="1"/>
            <c:spPr>
              <a:solidFill>
                <a:srgbClr val="BD442C"/>
              </a:solidFill>
              <a:ln>
                <a:solidFill>
                  <a:srgbClr val="BD442C"/>
                </a:solidFill>
              </a:ln>
            </c:spPr>
          </c:dPt>
          <c:cat>
            <c:strRef>
              <c:f>Sheet1!$A$2:$A$3</c:f>
              <c:strCache>
                <c:ptCount val="2"/>
                <c:pt idx="0">
                  <c:v>修改前</c:v>
                </c:pt>
                <c:pt idx="1">
                  <c:v>修改后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7.0</c:v>
                </c:pt>
                <c:pt idx="1">
                  <c:v>12.0</c:v>
                </c:pt>
              </c:numCache>
            </c:numRef>
          </c:val>
        </c:ser>
        <c:dLbls>
          <c:numFmt formatCode="General&quot;例&quot;" sourceLinked="0"/>
          <c:txPr>
            <a:bodyPr/>
            <a:lstStyle/>
            <a:p>
              <a:pPr>
                <a:defRPr sz="2400">
                  <a:solidFill>
                    <a:srgbClr val="142C3C"/>
                  </a:solidFill>
                  <a:latin typeface="Arial"/>
                  <a:ea typeface="Noto Sans CJK SC"/>
                  <a:cs typeface="Noto Sans CJK SC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2100">
                <a:solidFill>
                  <a:srgbClr val="142C3C"/>
                </a:solidFill>
                <a:latin typeface="Arial"/>
                <a:ea typeface="Noto Sans CJK SC"/>
                <a:cs typeface="Noto Sans CJK SC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3.799999999999999"/>
        </c:scaling>
        <c:delete val="0"/>
        <c:axPos val="l"/>
        <c:majorTickMark val="out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2100">
                <a:solidFill>
                  <a:srgbClr val="576773"/>
                </a:solidFill>
                <a:latin typeface="Arial"/>
                <a:ea typeface="Noto Sans CJK SC"/>
                <a:cs typeface="Noto Sans CJK SC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304800"/>
            <a:ext cx="91440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ENGINEERING × ART DIRECTION / 2026.10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11125200" y="304800"/>
            <a:ext cx="4572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01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1447800"/>
            <a:ext cx="10363200" cy="2057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6840"/>
              </a:lnSpc>
            </a:pPr>
            <a:r>
              <a:rPr sz="57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架构简单，</a:t>
            </a:r>
          </a:p>
          <a:p>
            <a:pPr algn="l">
              <a:lnSpc>
                <a:spcPts val="6840"/>
              </a:lnSpc>
            </a:pPr>
            <a:r>
              <a:rPr sz="57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判断不能简单。</a:t>
            </a:r>
          </a:p>
        </p:txBody>
      </p:sp>
      <p:cxnSp>
        <p:nvCxnSpPr>
          <p:cNvPr id="5" name="rule"/>
          <p:cNvCxnSpPr/>
          <p:nvPr/>
        </p:nvCxnSpPr>
        <p:spPr>
          <a:xfrm>
            <a:off x="609600" y="4076700"/>
            <a:ext cx="1219200" cy="0"/>
          </a:xfrm>
          <a:prstGeom prst="line">
            <a:avLst/>
          </a:prstGeom>
          <a:ln w="9525">
            <a:solidFill>
              <a:srgbClr val="BD44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sub"/>
          <p:cNvSpPr txBox="1"/>
          <p:nvPr/>
        </p:nvSpPr>
        <p:spPr>
          <a:xfrm>
            <a:off x="609600" y="4495800"/>
            <a:ext cx="9525000" cy="533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删掉重复劳动，保留真实证据。</a:t>
            </a:r>
          </a:p>
        </p:txBody>
      </p:sp>
      <p:sp>
        <p:nvSpPr>
          <p:cNvPr id="7" name="boundary"/>
          <p:cNvSpPr txBox="1"/>
          <p:nvPr/>
        </p:nvSpPr>
        <p:spPr>
          <a:xfrm>
            <a:off x="609600" y="5372100"/>
            <a:ext cx="10477500" cy="381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070"/>
              </a:lnSpc>
            </a:pPr>
            <a:r>
              <a:rPr sz="172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仓库审计样稿</a:t>
            </a:r>
            <a:r>
              <a:rPr sz="172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· </a:t>
            </a:r>
            <a:r>
              <a:rPr sz="172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可编辑对象</a:t>
            </a:r>
            <a:r>
              <a:rPr sz="172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· </a:t>
            </a:r>
            <a:r>
              <a:rPr sz="172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目标</a:t>
            </a:r>
            <a:r>
              <a:rPr sz="172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PowerPoint </a:t>
            </a:r>
            <a:r>
              <a:rPr sz="172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尚待验收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09600" y="6400800"/>
            <a:ext cx="109728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来源：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 2ec0b0e 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基线与本工作区改动；本文是审计展示，不是商业预测。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304800"/>
            <a:ext cx="91440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01 / </a:t>
            </a:r>
            <a:r>
              <a:rPr sz="13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关系先于图形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11125200" y="304800"/>
            <a:ext cx="4572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02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1066800"/>
            <a:ext cx="10477500" cy="12573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相加为</a:t>
            </a:r>
            <a:r>
              <a:rPr sz="3600" b="1" i="0">
                <a:solidFill>
                  <a:srgbClr val="142C3C"/>
                </a:solidFill>
                <a:latin typeface="Arial"/>
                <a:ea typeface="Noto Sans CJK SC"/>
                <a:cs typeface="Noto Sans CJK SC"/>
              </a:rPr>
              <a:t> 100 </a:t>
            </a: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，</a:t>
            </a:r>
          </a:p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不等于同一个整体。</a:t>
            </a:r>
          </a:p>
        </p:txBody>
      </p:sp>
      <p:sp>
        <p:nvSpPr>
          <p:cNvPr id="5" name="a"/>
          <p:cNvSpPr txBox="1"/>
          <p:nvPr/>
        </p:nvSpPr>
        <p:spPr>
          <a:xfrm>
            <a:off x="609600" y="2895600"/>
            <a:ext cx="42672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280"/>
              </a:lnSpc>
            </a:pPr>
            <a:r>
              <a:rPr sz="6900" b="1" i="0">
                <a:solidFill>
                  <a:srgbClr val="142C3C"/>
                </a:solidFill>
                <a:latin typeface="Arial"/>
                <a:ea typeface="Noto Sans CJK SC"/>
                <a:cs typeface="Noto Sans CJK SC"/>
              </a:rPr>
              <a:t>60%</a:t>
            </a:r>
          </a:p>
        </p:txBody>
      </p:sp>
      <p:sp>
        <p:nvSpPr>
          <p:cNvPr id="6" name="al"/>
          <p:cNvSpPr txBox="1"/>
          <p:nvPr/>
        </p:nvSpPr>
        <p:spPr>
          <a:xfrm>
            <a:off x="609600" y="4191000"/>
            <a:ext cx="4267200" cy="4191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缓解率</a:t>
            </a:r>
          </a:p>
        </p:txBody>
      </p:sp>
      <p:sp>
        <p:nvSpPr>
          <p:cNvPr id="7" name="b"/>
          <p:cNvSpPr txBox="1"/>
          <p:nvPr/>
        </p:nvSpPr>
        <p:spPr>
          <a:xfrm>
            <a:off x="6705600" y="2895600"/>
            <a:ext cx="4267200" cy="11430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280"/>
              </a:lnSpc>
            </a:pPr>
            <a:r>
              <a:rPr sz="6900" b="1" i="0">
                <a:solidFill>
                  <a:srgbClr val="142C3C"/>
                </a:solidFill>
                <a:latin typeface="Arial"/>
                <a:ea typeface="Noto Sans CJK SC"/>
                <a:cs typeface="Noto Sans CJK SC"/>
              </a:rPr>
              <a:t>40%</a:t>
            </a:r>
          </a:p>
        </p:txBody>
      </p:sp>
      <p:sp>
        <p:nvSpPr>
          <p:cNvPr id="8" name="bl"/>
          <p:cNvSpPr txBox="1"/>
          <p:nvPr/>
        </p:nvSpPr>
        <p:spPr>
          <a:xfrm>
            <a:off x="6705600" y="4191000"/>
            <a:ext cx="4267200" cy="4191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不良反应发生率</a:t>
            </a:r>
          </a:p>
        </p:txBody>
      </p:sp>
      <p:cxnSp>
        <p:nvCxnSpPr>
          <p:cNvPr id="9" name="sep"/>
          <p:cNvCxnSpPr/>
          <p:nvPr/>
        </p:nvCxnSpPr>
        <p:spPr>
          <a:xfrm>
            <a:off x="609600" y="4953000"/>
            <a:ext cx="10972800" cy="0"/>
          </a:xfrm>
          <a:prstGeom prst="line">
            <a:avLst/>
          </a:prstGeom>
          <a:ln w="9525">
            <a:solidFill>
              <a:srgbClr val="142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note"/>
          <p:cNvSpPr txBox="1"/>
          <p:nvPr/>
        </p:nvSpPr>
        <p:spPr>
          <a:xfrm>
            <a:off x="609600" y="5295900"/>
            <a:ext cx="10972800" cy="609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同一患者可同时满足两者。先问事件是否互斥，再决定能否画饼图。</a:t>
            </a:r>
          </a:p>
        </p:txBody>
      </p:sp>
      <p:sp>
        <p:nvSpPr>
          <p:cNvPr id="11" name="source"/>
          <p:cNvSpPr txBox="1"/>
          <p:nvPr/>
        </p:nvSpPr>
        <p:spPr>
          <a:xfrm>
            <a:off x="609600" y="6400800"/>
            <a:ext cx="109728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来源：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 benchmark/holdout.json · H01 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；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 60% / 40% 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为合成语义案例，非临床结果。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304800"/>
            <a:ext cx="91440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02 / </a:t>
            </a:r>
            <a:r>
              <a:rPr sz="13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方向只来自明确关系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11125200" y="304800"/>
            <a:ext cx="4572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03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1066800"/>
            <a:ext cx="10477500" cy="12573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职责并列，</a:t>
            </a:r>
          </a:p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不是先后顺序。</a:t>
            </a:r>
          </a:p>
        </p:txBody>
      </p:sp>
      <p:sp>
        <p:nvSpPr>
          <p:cNvPr id="5" name="subject_a"/>
          <p:cNvSpPr txBox="1"/>
          <p:nvPr/>
        </p:nvSpPr>
        <p:spPr>
          <a:xfrm>
            <a:off x="609600" y="2971800"/>
            <a:ext cx="2743200" cy="609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青禾组</a:t>
            </a:r>
          </a:p>
        </p:txBody>
      </p:sp>
      <p:sp>
        <p:nvSpPr>
          <p:cNvPr id="6" name="rel_a"/>
          <p:cNvSpPr txBox="1"/>
          <p:nvPr/>
        </p:nvSpPr>
        <p:spPr>
          <a:xfrm>
            <a:off x="4000500" y="3086100"/>
            <a:ext cx="1676400" cy="4191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负责</a:t>
            </a:r>
          </a:p>
        </p:txBody>
      </p:sp>
      <p:sp>
        <p:nvSpPr>
          <p:cNvPr id="7" name="object_a"/>
          <p:cNvSpPr txBox="1"/>
          <p:nvPr/>
        </p:nvSpPr>
        <p:spPr>
          <a:xfrm>
            <a:off x="7010400" y="2971800"/>
            <a:ext cx="4572000" cy="609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质量测试</a:t>
            </a:r>
          </a:p>
        </p:txBody>
      </p:sp>
      <p:cxnSp>
        <p:nvCxnSpPr>
          <p:cNvPr id="8" name="row"/>
          <p:cNvCxnSpPr/>
          <p:nvPr/>
        </p:nvCxnSpPr>
        <p:spPr>
          <a:xfrm>
            <a:off x="609600" y="3848100"/>
            <a:ext cx="10972800" cy="0"/>
          </a:xfrm>
          <a:prstGeom prst="line">
            <a:avLst/>
          </a:prstGeom>
          <a:ln w="9525">
            <a:solidFill>
              <a:srgbClr val="142C3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ubject_b"/>
          <p:cNvSpPr txBox="1"/>
          <p:nvPr/>
        </p:nvSpPr>
        <p:spPr>
          <a:xfrm>
            <a:off x="609600" y="4191000"/>
            <a:ext cx="2743200" cy="609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澄海组</a:t>
            </a:r>
          </a:p>
        </p:txBody>
      </p:sp>
      <p:sp>
        <p:nvSpPr>
          <p:cNvPr id="10" name="rel_b"/>
          <p:cNvSpPr txBox="1"/>
          <p:nvPr/>
        </p:nvSpPr>
        <p:spPr>
          <a:xfrm>
            <a:off x="4000500" y="4305300"/>
            <a:ext cx="1676400" cy="4191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负责</a:t>
            </a:r>
          </a:p>
        </p:txBody>
      </p:sp>
      <p:sp>
        <p:nvSpPr>
          <p:cNvPr id="11" name="object_b"/>
          <p:cNvSpPr txBox="1"/>
          <p:nvPr/>
        </p:nvSpPr>
        <p:spPr>
          <a:xfrm>
            <a:off x="7010400" y="4191000"/>
            <a:ext cx="4572000" cy="609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600"/>
              </a:lnSpc>
            </a:pPr>
            <a:r>
              <a:rPr sz="300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项目交付</a:t>
            </a:r>
          </a:p>
        </p:txBody>
      </p:sp>
      <p:sp>
        <p:nvSpPr>
          <p:cNvPr id="12" name="note"/>
          <p:cNvSpPr txBox="1"/>
          <p:nvPr/>
        </p:nvSpPr>
        <p:spPr>
          <a:xfrm>
            <a:off x="609600" y="5334000"/>
            <a:ext cx="10972800" cy="571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没有已知上下级，就不补汇报线；没有时间轴，就不造流程。</a:t>
            </a:r>
          </a:p>
        </p:txBody>
      </p:sp>
      <p:sp>
        <p:nvSpPr>
          <p:cNvPr id="13" name="source"/>
          <p:cNvSpPr txBox="1"/>
          <p:nvPr/>
        </p:nvSpPr>
        <p:spPr>
          <a:xfrm>
            <a:off x="609600" y="6400800"/>
            <a:ext cx="109728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来源：显式关系回归测试；此页为合成组织关系示例，不代表实际组织。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304800"/>
            <a:ext cx="91440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03 / </a:t>
            </a:r>
            <a:r>
              <a:rPr sz="13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判断基准，不是视觉评分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11125200" y="304800"/>
            <a:ext cx="4572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04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1066800"/>
            <a:ext cx="10477500" cy="12573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五个误判被消除。</a:t>
            </a:r>
          </a:p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视觉质量仍需另验。</a:t>
            </a:r>
          </a:p>
        </p:txBody>
      </p:sp>
      <p:graphicFrame>
        <p:nvGraphicFramePr>
          <p:cNvPr id="5" name="evidence_chart"/>
          <p:cNvGraphicFramePr>
            <a:graphicFrameLocks noGrp="1"/>
          </p:cNvGraphicFramePr>
          <p:nvPr/>
        </p:nvGraphicFramePr>
        <p:xfrm>
          <a:off x="609600" y="2705100"/>
          <a:ext cx="6858000" cy="31623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core"/>
          <p:cNvSpPr txBox="1"/>
          <p:nvPr/>
        </p:nvSpPr>
        <p:spPr>
          <a:xfrm>
            <a:off x="8115300" y="2971800"/>
            <a:ext cx="3467100" cy="990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9"/>
              </a:lnSpc>
            </a:pPr>
            <a:r>
              <a:rPr sz="4800" b="1" i="0">
                <a:solidFill>
                  <a:srgbClr val="BD442C"/>
                </a:solidFill>
                <a:latin typeface="Arial"/>
                <a:ea typeface="Noto Sans CJK SC"/>
                <a:cs typeface="Noto Sans CJK SC"/>
              </a:rPr>
              <a:t>12/12</a:t>
            </a:r>
          </a:p>
        </p:txBody>
      </p:sp>
      <p:sp>
        <p:nvSpPr>
          <p:cNvPr id="7" name="qualifier"/>
          <p:cNvSpPr txBox="1"/>
          <p:nvPr/>
        </p:nvSpPr>
        <p:spPr>
          <a:xfrm>
            <a:off x="8115300" y="4191000"/>
            <a:ext cx="3467100" cy="1447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429"/>
              </a:lnSpc>
            </a:pPr>
            <a:r>
              <a:rPr sz="202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固定关系不变式</a:t>
            </a:r>
          </a:p>
          <a:p>
            <a:pPr algn="l">
              <a:lnSpc>
                <a:spcPts val="2429"/>
              </a:lnSpc>
            </a:pPr>
            <a:r>
              <a:rPr sz="202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不是独立盲评</a:t>
            </a:r>
          </a:p>
          <a:p>
            <a:pPr algn="l">
              <a:lnSpc>
                <a:spcPts val="2429"/>
              </a:lnSpc>
            </a:pPr>
            <a:r>
              <a:rPr sz="202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不是跨行业质量证明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09600" y="6400800"/>
            <a:ext cx="109728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来源：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 audit/holdout-{before,after}.json 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；案例预先写定，修复后转为回归集。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304800"/>
            <a:ext cx="91440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04 / </a:t>
            </a:r>
            <a:r>
              <a:rPr sz="13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一次判断，下游复用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11125200" y="304800"/>
            <a:ext cx="4572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05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1066800"/>
            <a:ext cx="10477500" cy="7239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保持一条生产链。</a:t>
            </a:r>
          </a:p>
        </p:txBody>
      </p:sp>
      <p:sp>
        <p:nvSpPr>
          <p:cNvPr id="5" name="think"/>
          <p:cNvSpPr txBox="1"/>
          <p:nvPr/>
        </p:nvSpPr>
        <p:spPr>
          <a:xfrm>
            <a:off x="609600" y="2667000"/>
            <a:ext cx="304800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Arial"/>
                <a:ea typeface="Noto Sans CJK SC"/>
                <a:cs typeface="Noto Sans CJK SC"/>
              </a:rPr>
              <a:t>THINK</a:t>
            </a:r>
          </a:p>
        </p:txBody>
      </p:sp>
      <p:sp>
        <p:nvSpPr>
          <p:cNvPr id="6" name="build"/>
          <p:cNvSpPr txBox="1"/>
          <p:nvPr/>
        </p:nvSpPr>
        <p:spPr>
          <a:xfrm>
            <a:off x="4419600" y="2667000"/>
            <a:ext cx="304800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Arial"/>
                <a:ea typeface="Noto Sans CJK SC"/>
                <a:cs typeface="Noto Sans CJK SC"/>
              </a:rPr>
              <a:t>BUILD</a:t>
            </a:r>
          </a:p>
        </p:txBody>
      </p:sp>
      <p:sp>
        <p:nvSpPr>
          <p:cNvPr id="7" name="verify"/>
          <p:cNvSpPr txBox="1"/>
          <p:nvPr/>
        </p:nvSpPr>
        <p:spPr>
          <a:xfrm>
            <a:off x="8229600" y="2667000"/>
            <a:ext cx="3352800" cy="685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Arial"/>
                <a:ea typeface="Noto Sans CJK SC"/>
                <a:cs typeface="Noto Sans CJK SC"/>
              </a:rPr>
              <a:t>VERIFY</a:t>
            </a:r>
          </a:p>
        </p:txBody>
      </p:sp>
      <p:sp>
        <p:nvSpPr>
          <p:cNvPr id="8" name="think_body"/>
          <p:cNvSpPr txBox="1"/>
          <p:nvPr/>
        </p:nvSpPr>
        <p:spPr>
          <a:xfrm>
            <a:off x="609600" y="3581400"/>
            <a:ext cx="3048000" cy="1066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主张与证据</a:t>
            </a:r>
          </a:p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保留未知关系</a:t>
            </a:r>
          </a:p>
        </p:txBody>
      </p:sp>
      <p:sp>
        <p:nvSpPr>
          <p:cNvPr id="9" name="build_body"/>
          <p:cNvSpPr txBox="1"/>
          <p:nvPr/>
        </p:nvSpPr>
        <p:spPr>
          <a:xfrm>
            <a:off x="4419600" y="3581400"/>
            <a:ext cx="3048000" cy="1066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原生文字与图表</a:t>
            </a:r>
          </a:p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作者决定几何</a:t>
            </a:r>
          </a:p>
        </p:txBody>
      </p:sp>
      <p:sp>
        <p:nvSpPr>
          <p:cNvPr id="10" name="verify_body"/>
          <p:cNvSpPr txBox="1"/>
          <p:nvPr/>
        </p:nvSpPr>
        <p:spPr>
          <a:xfrm>
            <a:off x="8229600" y="3581400"/>
            <a:ext cx="3352800" cy="10668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硬门与字节凭证</a:t>
            </a:r>
          </a:p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不代替视觉签署</a:t>
            </a:r>
          </a:p>
        </p:txBody>
      </p:sp>
      <p:sp>
        <p:nvSpPr>
          <p:cNvPr id="11" name="close"/>
          <p:cNvSpPr txBox="1"/>
          <p:nvPr/>
        </p:nvSpPr>
        <p:spPr>
          <a:xfrm>
            <a:off x="609600" y="5372100"/>
            <a:ext cx="10972800" cy="5334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BD442C"/>
                </a:solidFill>
                <a:latin typeface="Noto Sans CJK SC"/>
                <a:ea typeface="Noto Sans CJK SC"/>
                <a:cs typeface="Noto Sans CJK SC"/>
              </a:rPr>
              <a:t>删除不可靠的隐式缓存；复用显式快照与已验摘要。</a:t>
            </a:r>
          </a:p>
        </p:txBody>
      </p:sp>
      <p:sp>
        <p:nvSpPr>
          <p:cNvPr id="12" name="source"/>
          <p:cNvSpPr txBox="1"/>
          <p:nvPr/>
        </p:nvSpPr>
        <p:spPr>
          <a:xfrm>
            <a:off x="609600" y="6400800"/>
            <a:ext cx="109728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来源：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 scripts/vao.py · plan / check 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；架构与判断原则见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SKILL.md 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304800"/>
            <a:ext cx="91440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05 / </a:t>
            </a:r>
            <a:r>
              <a:rPr sz="13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中文排版必须落到成品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11125200" y="304800"/>
            <a:ext cx="4572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06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1066800"/>
            <a:ext cx="10477500" cy="12573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Arial"/>
                <a:ea typeface="Noto Sans CJK SC"/>
                <a:cs typeface="Noto Sans CJK SC"/>
              </a:rPr>
              <a:t>186 </a:t>
            </a: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公里，</a:t>
            </a:r>
          </a:p>
          <a:p>
            <a:pPr algn="l">
              <a:lnSpc>
                <a:spcPts val="4320"/>
              </a:lnSpc>
            </a:pPr>
            <a:r>
              <a:rPr sz="36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不能在单位前断开。</a:t>
            </a:r>
          </a:p>
        </p:txBody>
      </p:sp>
      <p:sp>
        <p:nvSpPr>
          <p:cNvPr id="5" name="specimen"/>
          <p:cNvSpPr txBox="1"/>
          <p:nvPr/>
        </p:nvSpPr>
        <p:spPr>
          <a:xfrm>
            <a:off x="609600" y="3009900"/>
            <a:ext cx="10972800" cy="12573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8640"/>
              </a:lnSpc>
            </a:pPr>
            <a:r>
              <a:rPr sz="7200" b="1" i="0">
                <a:solidFill>
                  <a:srgbClr val="142C3C"/>
                </a:solidFill>
                <a:latin typeface="Arial"/>
                <a:ea typeface="Noto Sans CJK SC"/>
                <a:cs typeface="Noto Sans CJK SC"/>
              </a:rPr>
              <a:t>186 </a:t>
            </a:r>
            <a:r>
              <a:rPr sz="72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公里</a:t>
            </a:r>
          </a:p>
        </p:txBody>
      </p:sp>
      <p:sp>
        <p:nvSpPr>
          <p:cNvPr id="6" name="note"/>
          <p:cNvSpPr txBox="1"/>
          <p:nvPr/>
        </p:nvSpPr>
        <p:spPr>
          <a:xfrm>
            <a:off x="609600" y="4762500"/>
            <a:ext cx="10972800" cy="4953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700"/>
              </a:lnSpc>
            </a:pPr>
            <a:r>
              <a:rPr sz="2250" b="0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不断行空格已写入原生文字；中文字体角色已绑定。</a:t>
            </a:r>
          </a:p>
        </p:txBody>
      </p:sp>
      <p:sp>
        <p:nvSpPr>
          <p:cNvPr id="7" name="limit"/>
          <p:cNvSpPr txBox="1"/>
          <p:nvPr/>
        </p:nvSpPr>
        <p:spPr>
          <a:xfrm>
            <a:off x="609600" y="5410200"/>
            <a:ext cx="109728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340"/>
              </a:lnSpc>
            </a:pPr>
            <a:r>
              <a:rPr sz="19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真实断行、字体回退与投影可读性，须在目标</a:t>
            </a:r>
            <a:r>
              <a:rPr sz="19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PowerPoint </a:t>
            </a:r>
            <a:r>
              <a:rPr sz="19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检查。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09600" y="6400800"/>
            <a:ext cx="109728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来源：混排回归测试与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PPTX XML 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；本页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ghost 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只提供结构预览。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3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eyebrow"/>
          <p:cNvSpPr txBox="1"/>
          <p:nvPr/>
        </p:nvSpPr>
        <p:spPr>
          <a:xfrm>
            <a:off x="609600" y="304800"/>
            <a:ext cx="91440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06 / </a:t>
            </a:r>
            <a:r>
              <a:rPr sz="135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交付不能越过证据</a:t>
            </a:r>
          </a:p>
        </p:txBody>
      </p:sp>
      <p:sp>
        <p:nvSpPr>
          <p:cNvPr id="3" name="page_number"/>
          <p:cNvSpPr txBox="1"/>
          <p:nvPr/>
        </p:nvSpPr>
        <p:spPr>
          <a:xfrm>
            <a:off x="11125200" y="304800"/>
            <a:ext cx="4572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ts val="1620"/>
              </a:lnSpc>
            </a:pPr>
            <a:r>
              <a:rPr sz="135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07</a:t>
            </a:r>
          </a:p>
        </p:txBody>
      </p:sp>
      <p:sp>
        <p:nvSpPr>
          <p:cNvPr id="4" name="title"/>
          <p:cNvSpPr txBox="1"/>
          <p:nvPr/>
        </p:nvSpPr>
        <p:spPr>
          <a:xfrm>
            <a:off x="609600" y="1371600"/>
            <a:ext cx="10477500" cy="17145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5759"/>
              </a:lnSpc>
            </a:pPr>
            <a:r>
              <a:rPr sz="48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代码可以通过。</a:t>
            </a:r>
          </a:p>
          <a:p>
            <a:pPr algn="l">
              <a:lnSpc>
                <a:spcPts val="5759"/>
              </a:lnSpc>
            </a:pPr>
            <a:r>
              <a:rPr sz="48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作品必须被看见。</a:t>
            </a:r>
          </a:p>
        </p:txBody>
      </p:sp>
      <p:cxnSp>
        <p:nvCxnSpPr>
          <p:cNvPr id="5" name="rule"/>
          <p:cNvCxnSpPr/>
          <p:nvPr/>
        </p:nvCxnSpPr>
        <p:spPr>
          <a:xfrm>
            <a:off x="609600" y="3695700"/>
            <a:ext cx="1219200" cy="0"/>
          </a:xfrm>
          <a:prstGeom prst="line">
            <a:avLst/>
          </a:prstGeom>
          <a:ln w="9525">
            <a:solidFill>
              <a:srgbClr val="BD442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action"/>
          <p:cNvSpPr txBox="1"/>
          <p:nvPr/>
        </p:nvSpPr>
        <p:spPr>
          <a:xfrm>
            <a:off x="609600" y="4191000"/>
            <a:ext cx="10972800" cy="6096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3240"/>
              </a:lnSpc>
            </a:pPr>
            <a:r>
              <a:rPr sz="2700" b="1" i="0">
                <a:solidFill>
                  <a:srgbClr val="142C3C"/>
                </a:solidFill>
                <a:latin typeface="Noto Sans CJK SC"/>
                <a:ea typeface="Noto Sans CJK SC"/>
                <a:cs typeface="Noto Sans CJK SC"/>
              </a:rPr>
              <a:t>下一步：打开、编辑、另存，再重开。</a:t>
            </a:r>
          </a:p>
        </p:txBody>
      </p:sp>
      <p:sp>
        <p:nvSpPr>
          <p:cNvPr id="7" name="pending"/>
          <p:cNvSpPr txBox="1"/>
          <p:nvPr/>
        </p:nvSpPr>
        <p:spPr>
          <a:xfrm>
            <a:off x="609600" y="5219700"/>
            <a:ext cx="10972800" cy="4572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目标</a:t>
            </a:r>
            <a:r>
              <a:rPr sz="210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PowerPoint </a:t>
            </a:r>
            <a:r>
              <a:rPr sz="210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未验证</a:t>
            </a:r>
            <a:r>
              <a:rPr sz="2100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· </a:t>
            </a:r>
            <a:r>
              <a:rPr sz="2100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独立视觉盲评未开展</a:t>
            </a:r>
          </a:p>
        </p:txBody>
      </p:sp>
      <p:sp>
        <p:nvSpPr>
          <p:cNvPr id="8" name="source"/>
          <p:cNvSpPr txBox="1"/>
          <p:nvPr/>
        </p:nvSpPr>
        <p:spPr>
          <a:xfrm>
            <a:off x="609600" y="6400800"/>
            <a:ext cx="10972800" cy="266700"/>
          </a:xfrm>
          <a:prstGeom prst="rect">
            <a:avLst/>
          </a:prstGeom>
          <a:noFill/>
          <a:effectLst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530"/>
              </a:lnSpc>
            </a:pP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交付边界：结构</a:t>
            </a:r>
            <a:r>
              <a:rPr sz="1275" b="0" i="0">
                <a:solidFill>
                  <a:srgbClr val="576773"/>
                </a:solidFill>
                <a:latin typeface="Arial"/>
                <a:ea typeface="Noto Sans CJK SC"/>
                <a:cs typeface="Noto Sans CJK SC"/>
              </a:rPr>
              <a:t> PASS </a:t>
            </a:r>
            <a:r>
              <a:rPr sz="1275" b="0" i="0">
                <a:solidFill>
                  <a:srgbClr val="576773"/>
                </a:solidFill>
                <a:latin typeface="Noto Sans CJK SC"/>
                <a:ea typeface="Noto Sans CJK SC"/>
                <a:cs typeface="Noto Sans CJK SC"/>
              </a:rPr>
              <a:t>不等于视觉终验；没有真实评审，不填写虚构评分。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